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-457200" y="-457200"/>
            <a:ext cx="4114800" cy="2011680"/>
          </a:xfrm>
          <a:prstGeom prst="rect">
            <a:avLst/>
          </a:prstGeom>
          <a:solidFill>
            <a:srgbClr val="E94560">
              <a:alpha val="20000"/>
            </a:srgbClr>
          </a:solidFill>
          <a:ln w="12700">
            <a:solidFill>
              <a:srgbClr val="E9456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97280"/>
            <a:ext cx="9144000" cy="54864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and Engineering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43891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71323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– PBL 2 | End Term Examination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1417320"/>
            <a:ext cx="1554480" cy="1554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9260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SAFETY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457200" y="354787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6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3800" dirty="0"/>
          </a:p>
        </p:txBody>
      </p:sp>
      <p:sp>
        <p:nvSpPr>
          <p:cNvPr id="11" name="Shape 8"/>
          <p:cNvSpPr/>
          <p:nvPr/>
        </p:nvSpPr>
        <p:spPr>
          <a:xfrm>
            <a:off x="1371600" y="4206240"/>
            <a:ext cx="6400800" cy="658368"/>
          </a:xfrm>
          <a:prstGeom prst="rect">
            <a:avLst/>
          </a:prstGeom>
          <a:solidFill>
            <a:srgbClr val="0F3460"/>
          </a:solidFill>
          <a:ln w="12700">
            <a:solidFill>
              <a:srgbClr val="53348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371600" y="420624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Parth Tyagi  |  2427030039  |  Sec-K
</a:t>
            </a:r>
            <a:pPr algn="ctr" indent="0" marL="0">
              <a:buNone/>
            </a:pPr>
            <a:r>
              <a:rPr lang="en-US" sz="10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by: Ms. Tripti Kulshrestha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Presentation Outline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37760"/>
            <a:ext cx="6400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Safety Application  |  Parth Tyagi  |  2427030039  |  Sec-K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937760"/>
            <a:ext cx="457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868680"/>
            <a:ext cx="4206240" cy="475488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868680"/>
            <a:ext cx="384048" cy="47548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868680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8686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11064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 &amp; motivation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0040" y="1435608"/>
            <a:ext cx="4206240" cy="475488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1435608"/>
            <a:ext cx="384048" cy="47548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435608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14356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16733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research &amp; findings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0040" y="2002536"/>
            <a:ext cx="4206240" cy="475488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002536"/>
            <a:ext cx="384048" cy="47548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002536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" y="200253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22402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&amp; challenges identified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0040" y="2569464"/>
            <a:ext cx="4206240" cy="475488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2569464"/>
            <a:ext cx="384048" cy="47548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569464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" y="25694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Architecture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" y="28072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tech stack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20040" y="3136392"/>
            <a:ext cx="4206240" cy="475488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3136392"/>
            <a:ext cx="384048" cy="47548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3136392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7240" y="31363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77240" y="337413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functionalities implemented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20040" y="3703320"/>
            <a:ext cx="4206240" cy="475488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3703320"/>
            <a:ext cx="384048" cy="47548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3703320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77240" y="37033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+ WhatsApp Feature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77240" y="39410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 alert system (NEW)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20040" y="4270248"/>
            <a:ext cx="4206240" cy="475488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" y="4270248"/>
            <a:ext cx="384048" cy="47548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4270248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77240" y="42702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77240" y="45079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&amp; guardian setup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800600" y="868680"/>
            <a:ext cx="4206240" cy="475488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00600" y="868680"/>
            <a:ext cx="384048" cy="47548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00600" y="868680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257800" y="8686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257800" y="11064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backend development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800600" y="1435608"/>
            <a:ext cx="4206240" cy="475488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800600" y="1435608"/>
            <a:ext cx="384048" cy="47548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00600" y="1435608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257800" y="14356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257800" y="16733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model &amp; data schema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800600" y="2002536"/>
            <a:ext cx="4206240" cy="475488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800600" y="2002536"/>
            <a:ext cx="384048" cy="47548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00600" y="2002536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257800" y="200253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Results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257800" y="22402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Module-wise outcomes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800600" y="2569464"/>
            <a:ext cx="4206240" cy="475488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800600" y="2569464"/>
            <a:ext cx="384048" cy="47548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00600" y="2569464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257800" y="25694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257800" y="28072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data protection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800600" y="3136392"/>
            <a:ext cx="4206240" cy="475488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800600" y="3136392"/>
            <a:ext cx="384048" cy="47548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00600" y="3136392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5257800" y="31363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5257800" y="337413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improvements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4800600" y="3703320"/>
            <a:ext cx="4206240" cy="475488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800600" y="3703320"/>
            <a:ext cx="384048" cy="47548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800600" y="3703320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5257800" y="37033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5257800" y="39410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impact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Introduction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37760"/>
            <a:ext cx="6400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Safety Application  |  Parth Tyagi  |  2427030039  |  Sec-K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937760"/>
            <a:ext cx="457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822960"/>
            <a:ext cx="2651760" cy="1005840"/>
          </a:xfrm>
          <a:prstGeom prst="rect">
            <a:avLst/>
          </a:prstGeom>
          <a:solidFill>
            <a:srgbClr val="0F3460"/>
          </a:solidFill>
          <a:ln w="1270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84124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0040" y="1316736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feel unsafe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public transport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0" y="822960"/>
            <a:ext cx="2651760" cy="1005840"/>
          </a:xfrm>
          <a:prstGeom prst="rect">
            <a:avLst/>
          </a:prstGeom>
          <a:solidFill>
            <a:srgbClr val="0F3460"/>
          </a:solidFill>
          <a:ln w="1270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84124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200400" y="1316736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face violence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globally (UN data)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080760" y="822960"/>
            <a:ext cx="2651760" cy="1005840"/>
          </a:xfrm>
          <a:prstGeom prst="rect">
            <a:avLst/>
          </a:prstGeom>
          <a:solidFill>
            <a:srgbClr val="0F3460"/>
          </a:solidFill>
          <a:ln w="1270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80760" y="84124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080760" y="1316736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Emergency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Helpline India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1965960"/>
            <a:ext cx="4160520" cy="2651760"/>
          </a:xfrm>
          <a:prstGeom prst="rect">
            <a:avLst/>
          </a:prstGeom>
          <a:solidFill>
            <a:srgbClr val="16213E"/>
          </a:solidFill>
          <a:ln w="12700">
            <a:solidFill>
              <a:srgbClr val="53348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1965960"/>
            <a:ext cx="64008" cy="26517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011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Women Safety Matters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2377440"/>
            <a:ext cx="38862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safety is a critical social concern in modern India and globally. Incidents of harassment, assault, and unsafe commuting are rising, especially at night or in unfamiliar areas.
</a:t>
            </a:r>
            <a:pPr indent="0" marL="0">
              <a:buNone/>
            </a:pPr>
            <a:r>
              <a:rPr lang="en-US" sz="9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lack immediate, reliable digital support during emergencies. Smartphone adoption provides an unprecedented opportunity to offer real-time protection.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1965960"/>
            <a:ext cx="4160520" cy="2651760"/>
          </a:xfrm>
          <a:prstGeom prst="rect">
            <a:avLst/>
          </a:prstGeom>
          <a:solidFill>
            <a:srgbClr val="16213E"/>
          </a:solidFill>
          <a:ln w="12700">
            <a:solidFill>
              <a:srgbClr val="00C9B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965960"/>
            <a:ext cx="64008" cy="265176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011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Technology as a Solution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0600" y="2377440"/>
            <a:ext cx="38862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GPS enables precise real-time location sharing
</a:t>
            </a:r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Smartphone reach in India exceeds 750 million users
</a:t>
            </a:r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WhatsApp is used by 500M+ users in India alone
</a:t>
            </a:r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Low-cost development via React Native &amp; Node.js
</a:t>
            </a:r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Instant alerts reachable 24/7 without human relay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Literature Review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37760"/>
            <a:ext cx="6400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Safety Application  |  Parth Tyagi  |  2427030039  |  Sec-K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937760"/>
            <a:ext cx="457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822960"/>
            <a:ext cx="8503920" cy="896112"/>
          </a:xfrm>
          <a:prstGeom prst="rect">
            <a:avLst/>
          </a:prstGeom>
          <a:solidFill>
            <a:srgbClr val="16213E"/>
          </a:solidFill>
          <a:ln w="12700">
            <a:solidFill>
              <a:srgbClr val="53348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822960"/>
            <a:ext cx="64008" cy="89611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822960"/>
            <a:ext cx="640080" cy="89611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822960"/>
            <a:ext cx="640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51560" y="8961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Android-Based Women Safety App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51560" y="115214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Int. J. Sci. Inno. Eng.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51560" y="1335024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Real-time GPS + WhatsApp alerts reduce emergency response time by ~40%.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1828800"/>
            <a:ext cx="8503920" cy="896112"/>
          </a:xfrm>
          <a:prstGeom prst="rect">
            <a:avLst/>
          </a:prstGeom>
          <a:solidFill>
            <a:srgbClr val="16213E"/>
          </a:solidFill>
          <a:ln w="12700">
            <a:solidFill>
              <a:srgbClr val="53348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1828800"/>
            <a:ext cx="64008" cy="89611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1828800"/>
            <a:ext cx="640080" cy="89611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828800"/>
            <a:ext cx="640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51560" y="19019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Safety App – GPS + Emergency Messaging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51560" y="215798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IJRASET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51560" y="2340864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SOS messaging to pre-saved contacts provides reliable backup even on slow networks.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" y="2834640"/>
            <a:ext cx="8503920" cy="896112"/>
          </a:xfrm>
          <a:prstGeom prst="rect">
            <a:avLst/>
          </a:prstGeom>
          <a:solidFill>
            <a:srgbClr val="16213E"/>
          </a:solidFill>
          <a:ln w="12700">
            <a:solidFill>
              <a:srgbClr val="53348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834640"/>
            <a:ext cx="64008" cy="89611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2834640"/>
            <a:ext cx="640080" cy="89611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834640"/>
            <a:ext cx="640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51560" y="29077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Women – Mobile Panic Button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51560" y="316382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IJRASET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51560" y="3346704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One-tap panic buttons are effective; simple UI reduces activation time under stress.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3840480"/>
            <a:ext cx="8503920" cy="896112"/>
          </a:xfrm>
          <a:prstGeom prst="rect">
            <a:avLst/>
          </a:prstGeom>
          <a:solidFill>
            <a:srgbClr val="16213E"/>
          </a:solidFill>
          <a:ln w="12700">
            <a:solidFill>
              <a:srgbClr val="53348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840480"/>
            <a:ext cx="64008" cy="89611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3840480"/>
            <a:ext cx="640080" cy="89611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3840480"/>
            <a:ext cx="640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51560" y="39136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Safety Using GPS &amp; GSM Tracking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51560" y="416966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IJESR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051560" y="4352544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GSM-based alert systems work in low-connectivity zones where internet is absent.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Problem Statement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37760"/>
            <a:ext cx="6400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Safety Application  |  Parth Tyagi  |  2427030039  |  Sec-K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937760"/>
            <a:ext cx="457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371600" y="822960"/>
            <a:ext cx="6400800" cy="914400"/>
          </a:xfrm>
          <a:prstGeom prst="rect">
            <a:avLst/>
          </a:prstGeom>
          <a:solidFill>
            <a:srgbClr val="0F3460"/>
          </a:solidFill>
          <a:ln w="1270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371600" y="822960"/>
            <a:ext cx="64008" cy="9144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82296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often lack immediate, reliable, and easy-to-use digital support during emergency situations — especially in India where harassment and unsafe environments remain widespread.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1920240"/>
            <a:ext cx="2697480" cy="1234440"/>
          </a:xfrm>
          <a:prstGeom prst="rect">
            <a:avLst/>
          </a:prstGeom>
          <a:solidFill>
            <a:srgbClr val="16213E"/>
          </a:solidFill>
          <a:ln w="1270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920240"/>
            <a:ext cx="64008" cy="12344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29968"/>
            <a:ext cx="365760" cy="3657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14400" y="20116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Response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7200" y="2423160"/>
            <a:ext cx="2423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emergency response time in India exceeds 10 minutes. In life-threatening situations, every second counts.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3200400" y="1920240"/>
            <a:ext cx="2697480" cy="1234440"/>
          </a:xfrm>
          <a:prstGeom prst="rect">
            <a:avLst/>
          </a:prstGeom>
          <a:solidFill>
            <a:srgbClr val="16213E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00400" y="1920240"/>
            <a:ext cx="64008" cy="12344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2029968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794760" y="20116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Gaps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3337560" y="2423160"/>
            <a:ext cx="2423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apps heavily depend on stable internet, failing women in low-network rural or remote areas.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6080760" y="1920240"/>
            <a:ext cx="2697480" cy="1234440"/>
          </a:xfrm>
          <a:prstGeom prst="rect">
            <a:avLst/>
          </a:prstGeom>
          <a:solidFill>
            <a:srgbClr val="16213E"/>
          </a:solidFill>
          <a:ln w="12700">
            <a:solidFill>
              <a:srgbClr val="00C9B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080760" y="1920240"/>
            <a:ext cx="64008" cy="123444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029968"/>
            <a:ext cx="365760" cy="3657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675120" y="20116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Security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6217920" y="2423160"/>
            <a:ext cx="2423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existing apps collect sensitive data without proper encryption, posing serious privacy risks.</a:t>
            </a:r>
            <a:endParaRPr lang="en-US" sz="800" dirty="0"/>
          </a:p>
        </p:txBody>
      </p:sp>
      <p:sp>
        <p:nvSpPr>
          <p:cNvPr id="26" name="Shape 21"/>
          <p:cNvSpPr/>
          <p:nvPr/>
        </p:nvSpPr>
        <p:spPr>
          <a:xfrm>
            <a:off x="320040" y="3291840"/>
            <a:ext cx="2697480" cy="1234440"/>
          </a:xfrm>
          <a:prstGeom prst="rect">
            <a:avLst/>
          </a:prstGeom>
          <a:solidFill>
            <a:srgbClr val="16213E"/>
          </a:solidFill>
          <a:ln w="12700">
            <a:solidFill>
              <a:srgbClr val="53348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320040" y="3291840"/>
            <a:ext cx="64008" cy="1234440"/>
          </a:xfrm>
          <a:prstGeom prst="rect">
            <a:avLst/>
          </a:prstGeom>
          <a:solidFill>
            <a:srgbClr val="533483"/>
          </a:solidFill>
          <a:ln w="12700">
            <a:solidFill>
              <a:srgbClr val="533483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401568"/>
            <a:ext cx="365760" cy="3657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14400" y="33832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UX Under Stress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457200" y="3794760"/>
            <a:ext cx="2423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safety apps have multi-step activation — under panic, complex navigation costs critical time.</a:t>
            </a:r>
            <a:endParaRPr lang="en-US" sz="800" dirty="0"/>
          </a:p>
        </p:txBody>
      </p:sp>
      <p:sp>
        <p:nvSpPr>
          <p:cNvPr id="31" name="Shape 25"/>
          <p:cNvSpPr/>
          <p:nvPr/>
        </p:nvSpPr>
        <p:spPr>
          <a:xfrm>
            <a:off x="3200400" y="3291840"/>
            <a:ext cx="2697480" cy="1234440"/>
          </a:xfrm>
          <a:prstGeom prst="rect">
            <a:avLst/>
          </a:prstGeom>
          <a:solidFill>
            <a:srgbClr val="16213E"/>
          </a:solidFill>
          <a:ln w="1270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3200400" y="3291840"/>
            <a:ext cx="64008" cy="12344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3401568"/>
            <a:ext cx="365760" cy="36576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3794760" y="33832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Guardian Integration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3337560" y="3794760"/>
            <a:ext cx="2423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apps lack personalized guardian profiles with medical &amp; identity data for targeted response.</a:t>
            </a:r>
            <a:endParaRPr lang="en-US" sz="800" dirty="0"/>
          </a:p>
        </p:txBody>
      </p:sp>
      <p:sp>
        <p:nvSpPr>
          <p:cNvPr id="36" name="Shape 29"/>
          <p:cNvSpPr/>
          <p:nvPr/>
        </p:nvSpPr>
        <p:spPr>
          <a:xfrm>
            <a:off x="6080760" y="3291840"/>
            <a:ext cx="2697480" cy="1234440"/>
          </a:xfrm>
          <a:prstGeom prst="rect">
            <a:avLst/>
          </a:prstGeom>
          <a:solidFill>
            <a:srgbClr val="16213E"/>
          </a:solidFill>
          <a:ln w="12700">
            <a:solidFill>
              <a:srgbClr val="00C9B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6080760" y="3291840"/>
            <a:ext cx="64008" cy="123444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3401568"/>
            <a:ext cx="365760" cy="36576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675120" y="33832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Medical Data Sharing</a:t>
            </a:r>
            <a:endParaRPr lang="en-US" sz="1000" dirty="0"/>
          </a:p>
        </p:txBody>
      </p:sp>
      <p:sp>
        <p:nvSpPr>
          <p:cNvPr id="40" name="Text 32"/>
          <p:cNvSpPr/>
          <p:nvPr/>
        </p:nvSpPr>
        <p:spPr>
          <a:xfrm>
            <a:off x="6217920" y="3794760"/>
            <a:ext cx="2423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responders lack victim's blood type, medical conditions during critical rescue situations.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Existing Apps &amp; Identified Gaps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37760"/>
            <a:ext cx="6400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Safety Application  |  Parth Tyagi  |  2427030039  |  Sec-K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937760"/>
            <a:ext cx="457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822960"/>
            <a:ext cx="2651760" cy="210312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822960"/>
            <a:ext cx="64008" cy="21031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822960"/>
            <a:ext cx="2651760" cy="4114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8229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Himmat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" y="107899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By: Delhi Police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131673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149961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SOS alert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GPS sharing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Police link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" y="21031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22860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Delhi-only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WhatsApp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medical data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0" y="822960"/>
            <a:ext cx="2651760" cy="210312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822960"/>
            <a:ext cx="64008" cy="21031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822960"/>
            <a:ext cx="2651760" cy="4114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8229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bSafe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00400" y="107899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By: Commercial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337560" y="131673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37560" y="149961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Live tracking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Guardian alerts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Timer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337560" y="21031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37560" y="22860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Subscription fee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Battery drain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blood-type info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080760" y="822960"/>
            <a:ext cx="2651760" cy="210312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80760" y="822960"/>
            <a:ext cx="64008" cy="21031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80760" y="822960"/>
            <a:ext cx="2651760" cy="4114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80760" y="8229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Nirbhaya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80760" y="107899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By: Govt. India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217920" y="131673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17920" y="149961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Emergency call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Location SMS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112 link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217920" y="21031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Gaps: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17920" y="22860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Outdated UI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WhatsApp SOS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guardian profiles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0040" y="3063240"/>
            <a:ext cx="8503920" cy="1554480"/>
          </a:xfrm>
          <a:prstGeom prst="rect">
            <a:avLst/>
          </a:prstGeom>
          <a:solidFill>
            <a:srgbClr val="0F3460"/>
          </a:solidFill>
          <a:ln w="12700">
            <a:solidFill>
              <a:srgbClr val="00C9B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" y="3063240"/>
            <a:ext cx="64008" cy="155448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3108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Proposed Solution Addresses All These Gaps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8640" y="3474720"/>
            <a:ext cx="8046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WhatsApp SOS with guardian name, phone, blood type &amp; location
</a:t>
            </a:r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Registered guardian account linked to user profile for identity verification
</a:t>
            </a:r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Medical &amp; personal data embedded in SOS message for emergency responders
</a:t>
            </a:r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One-tap activation – zero delay, no multi-step navigation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Project Objectives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37760"/>
            <a:ext cx="6400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Safety Application  |  Parth Tyagi  |  2427030039  |  Sec-K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937760"/>
            <a:ext cx="457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804672"/>
            <a:ext cx="4160520" cy="1234440"/>
          </a:xfrm>
          <a:prstGeom prst="rect">
            <a:avLst/>
          </a:prstGeom>
          <a:solidFill>
            <a:srgbClr val="16213E"/>
          </a:solidFill>
          <a:ln w="1270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804672"/>
            <a:ext cx="64008" cy="12344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078992"/>
            <a:ext cx="50292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24712" y="896112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User-Friendly Interface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124712" y="1207008"/>
            <a:ext cx="32186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simple, intuitive mobile application accessible to all age groups with minimal learning curve.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754880" y="804672"/>
            <a:ext cx="4160520" cy="1234440"/>
          </a:xfrm>
          <a:prstGeom prst="rect">
            <a:avLst/>
          </a:prstGeom>
          <a:solidFill>
            <a:srgbClr val="16213E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54880" y="804672"/>
            <a:ext cx="64008" cy="12344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078992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559552" y="896112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Instant SOS Alerts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559552" y="1207008"/>
            <a:ext cx="32186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one-tap SOS that instantly alerts all registered emergency contacts via WhatsApp with zero delay.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320040" y="2194560"/>
            <a:ext cx="4160520" cy="1234440"/>
          </a:xfrm>
          <a:prstGeom prst="rect">
            <a:avLst/>
          </a:prstGeom>
          <a:solidFill>
            <a:srgbClr val="16213E"/>
          </a:solidFill>
          <a:ln w="12700">
            <a:solidFill>
              <a:srgbClr val="00C9B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20040" y="2194560"/>
            <a:ext cx="64008" cy="123444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2468880"/>
            <a:ext cx="502920" cy="5029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24712" y="2286000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Real-Time GPS Tracking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1124712" y="2596896"/>
            <a:ext cx="32186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precise live location sharing so guardians and rescuers can navigate directly to the victim.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4754880" y="2194560"/>
            <a:ext cx="4160520" cy="1234440"/>
          </a:xfrm>
          <a:prstGeom prst="rect">
            <a:avLst/>
          </a:prstGeom>
          <a:solidFill>
            <a:srgbClr val="16213E"/>
          </a:solidFill>
          <a:ln w="12700">
            <a:solidFill>
              <a:srgbClr val="53348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754880" y="2194560"/>
            <a:ext cx="64008" cy="1234440"/>
          </a:xfrm>
          <a:prstGeom prst="rect">
            <a:avLst/>
          </a:prstGeom>
          <a:solidFill>
            <a:srgbClr val="533483"/>
          </a:solidFill>
          <a:ln w="12700">
            <a:solidFill>
              <a:srgbClr val="533483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2468880"/>
            <a:ext cx="502920" cy="5029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559552" y="2286000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Guardian Account System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5559552" y="2596896"/>
            <a:ext cx="32186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users to register a guardian account linked by name. Guardian receives full victim details on SOS.</a:t>
            </a:r>
            <a:endParaRPr 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320040" y="3584448"/>
            <a:ext cx="4160520" cy="123444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20040" y="3584448"/>
            <a:ext cx="64008" cy="12344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3858768"/>
            <a:ext cx="502920" cy="5029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124712" y="3675888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Medical Data in SOS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1124712" y="3986784"/>
            <a:ext cx="32186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blood type, medical conditions in WhatsApp SOS so first responders arrive prepared.</a:t>
            </a:r>
            <a:endParaRPr lang="en-US" sz="850" dirty="0"/>
          </a:p>
        </p:txBody>
      </p:sp>
      <p:sp>
        <p:nvSpPr>
          <p:cNvPr id="33" name="Shape 26"/>
          <p:cNvSpPr/>
          <p:nvPr/>
        </p:nvSpPr>
        <p:spPr>
          <a:xfrm>
            <a:off x="4754880" y="3584448"/>
            <a:ext cx="4160520" cy="1234440"/>
          </a:xfrm>
          <a:prstGeom prst="rect">
            <a:avLst/>
          </a:prstGeom>
          <a:solidFill>
            <a:srgbClr val="16213E"/>
          </a:solidFill>
          <a:ln w="12700">
            <a:solidFill>
              <a:srgbClr val="00C9B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4754880" y="3584448"/>
            <a:ext cx="64008" cy="123444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3858768"/>
            <a:ext cx="502920" cy="50292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5559552" y="3675888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Secure Data Storage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5559552" y="3986784"/>
            <a:ext cx="32186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all personal and medical data is stored with proper authentication and encrypted at rest.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Application Architecture &amp; Tech Stack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37760"/>
            <a:ext cx="6400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Safety Application  |  Parth Tyagi  |  2427030039  |  Sec-K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937760"/>
            <a:ext cx="457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0" y="868680"/>
            <a:ext cx="4572000" cy="914400"/>
          </a:xfrm>
          <a:prstGeom prst="rect">
            <a:avLst/>
          </a:prstGeom>
          <a:solidFill>
            <a:srgbClr val="E94560">
              <a:alpha val="80000"/>
            </a:srgbClr>
          </a:solidFill>
          <a:ln w="2540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86000" y="94183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0" y="1344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(Mobile App)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0" y="2011680"/>
            <a:ext cx="4572000" cy="914400"/>
          </a:xfrm>
          <a:prstGeom prst="rect">
            <a:avLst/>
          </a:prstGeom>
          <a:solidFill>
            <a:srgbClr val="533483">
              <a:alpha val="80000"/>
            </a:srgbClr>
          </a:solidFill>
          <a:ln w="25400">
            <a:solidFill>
              <a:srgbClr val="53348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286000" y="208483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86000" y="2487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Express.js (REST API)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286000" y="3154680"/>
            <a:ext cx="4572000" cy="914400"/>
          </a:xfrm>
          <a:prstGeom prst="rect">
            <a:avLst/>
          </a:prstGeom>
          <a:solidFill>
            <a:srgbClr val="00C9B1">
              <a:alpha val="80000"/>
            </a:srgbClr>
          </a:solidFill>
          <a:ln w="25400">
            <a:solidFill>
              <a:srgbClr val="00C9B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286000" y="322783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286000" y="3630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/ MySQL (Database)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43400" y="1783080"/>
            <a:ext cx="9144" cy="228600"/>
          </a:xfrm>
          <a:prstGeom prst="line">
            <a:avLst/>
          </a:prstGeom>
          <a:noFill/>
          <a:ln w="25400">
            <a:solidFill>
              <a:srgbClr val="8888AA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4343400" y="2926080"/>
            <a:ext cx="9144" cy="228600"/>
          </a:xfrm>
          <a:prstGeom prst="line">
            <a:avLst/>
          </a:prstGeom>
          <a:noFill/>
          <a:ln w="25400">
            <a:solidFill>
              <a:srgbClr val="8888AA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7132320" y="868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32320" y="1207008"/>
            <a:ext cx="1737360" cy="594360"/>
          </a:xfrm>
          <a:prstGeom prst="rect">
            <a:avLst/>
          </a:prstGeom>
          <a:solidFill>
            <a:srgbClr val="16213E"/>
          </a:solidFill>
          <a:ln w="19050">
            <a:solidFill>
              <a:srgbClr val="00C9B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32320" y="120700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API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132320" y="2011680"/>
            <a:ext cx="1737360" cy="594360"/>
          </a:xfrm>
          <a:prstGeom prst="rect">
            <a:avLst/>
          </a:prstGeom>
          <a:solidFill>
            <a:srgbClr val="16213E"/>
          </a:solidFill>
          <a:ln w="1905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132320" y="20116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/ Google Maps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132320" y="2816352"/>
            <a:ext cx="1737360" cy="594360"/>
          </a:xfrm>
          <a:prstGeom prst="rect">
            <a:avLst/>
          </a:prstGeom>
          <a:solidFill>
            <a:srgbClr val="16213E"/>
          </a:solidFill>
          <a:ln w="1905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132320" y="281635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4206240"/>
            <a:ext cx="8503920" cy="548640"/>
          </a:xfrm>
          <a:prstGeom prst="rect">
            <a:avLst/>
          </a:prstGeom>
          <a:solidFill>
            <a:srgbClr val="0F3460"/>
          </a:solidFill>
          <a:ln w="12700">
            <a:solidFill>
              <a:srgbClr val="53348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 React Native  |  Node.js  |  Express.js  |  MongoDB  |  WhatsApp Business API  |  Google Maps API  |  JWT Auth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Key Features of the Application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37760"/>
            <a:ext cx="6400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Safety Application  |  Parth Tyagi  |  2427030039  |  Sec-K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937760"/>
            <a:ext cx="457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804672"/>
            <a:ext cx="2011680" cy="1828800"/>
          </a:xfrm>
          <a:prstGeom prst="rect">
            <a:avLst/>
          </a:prstGeom>
          <a:solidFill>
            <a:srgbClr val="16213E"/>
          </a:solidFill>
          <a:ln w="1270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804672"/>
            <a:ext cx="64008" cy="18288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005840"/>
            <a:ext cx="594360" cy="5943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65760" y="17007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SOS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65760" y="199339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button press triggers emergency sequence — no login required once active.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450592" y="804672"/>
            <a:ext cx="2011680" cy="1828800"/>
          </a:xfrm>
          <a:prstGeom prst="rect">
            <a:avLst/>
          </a:prstGeom>
          <a:solidFill>
            <a:srgbClr val="16213E"/>
          </a:solidFill>
          <a:ln w="12700">
            <a:solidFill>
              <a:srgbClr val="25D3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450592" y="804672"/>
            <a:ext cx="64008" cy="1828800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392" y="1005840"/>
            <a:ext cx="594360" cy="5943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42032" y="17007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Alert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2542032" y="199339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WhatsApp message with name, phone, blood type &amp; GPS link sent to guardian.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4626864" y="804672"/>
            <a:ext cx="2011680" cy="1828800"/>
          </a:xfrm>
          <a:prstGeom prst="rect">
            <a:avLst/>
          </a:prstGeom>
          <a:solidFill>
            <a:srgbClr val="16213E"/>
          </a:solidFill>
          <a:ln w="12700">
            <a:solidFill>
              <a:srgbClr val="00C9B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626864" y="804672"/>
            <a:ext cx="64008" cy="182880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2664" y="1005840"/>
            <a:ext cx="594360" cy="5943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718304" y="17007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GPS Location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4718304" y="199339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coordinates converted to Google Maps link for immediate navigation.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6803136" y="804672"/>
            <a:ext cx="2011680" cy="1828800"/>
          </a:xfrm>
          <a:prstGeom prst="rect">
            <a:avLst/>
          </a:prstGeom>
          <a:solidFill>
            <a:srgbClr val="16213E"/>
          </a:solidFill>
          <a:ln w="12700">
            <a:solidFill>
              <a:srgbClr val="53348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803136" y="804672"/>
            <a:ext cx="64008" cy="1828800"/>
          </a:xfrm>
          <a:prstGeom prst="rect">
            <a:avLst/>
          </a:prstGeom>
          <a:solidFill>
            <a:srgbClr val="533483"/>
          </a:solidFill>
          <a:ln w="12700">
            <a:solidFill>
              <a:srgbClr val="533483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8936" y="1005840"/>
            <a:ext cx="594360" cy="5943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894576" y="17007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 System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6894576" y="199339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 registers their account linked to victim's profile for verified identification.</a:t>
            </a:r>
            <a:endParaRPr lang="en-US" sz="800" dirty="0"/>
          </a:p>
        </p:txBody>
      </p:sp>
      <p:sp>
        <p:nvSpPr>
          <p:cNvPr id="28" name="Shape 22"/>
          <p:cNvSpPr/>
          <p:nvPr/>
        </p:nvSpPr>
        <p:spPr>
          <a:xfrm>
            <a:off x="274320" y="2816352"/>
            <a:ext cx="2011680" cy="182880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274320" y="2816352"/>
            <a:ext cx="64008" cy="18288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3017520"/>
            <a:ext cx="594360" cy="59436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65760" y="37124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Profile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365760" y="400507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type, medical conditions stored &amp; auto-included in SOS for first responders.</a:t>
            </a:r>
            <a:endParaRPr lang="en-US" sz="800" dirty="0"/>
          </a:p>
        </p:txBody>
      </p:sp>
      <p:sp>
        <p:nvSpPr>
          <p:cNvPr id="33" name="Shape 26"/>
          <p:cNvSpPr/>
          <p:nvPr/>
        </p:nvSpPr>
        <p:spPr>
          <a:xfrm>
            <a:off x="2450592" y="2816352"/>
            <a:ext cx="2011680" cy="1828800"/>
          </a:xfrm>
          <a:prstGeom prst="rect">
            <a:avLst/>
          </a:prstGeom>
          <a:solidFill>
            <a:srgbClr val="16213E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2450592" y="2816352"/>
            <a:ext cx="64008" cy="18288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36392" y="3017520"/>
            <a:ext cx="594360" cy="59436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2542032" y="37124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Emergency Contacts</a:t>
            </a:r>
            <a:endParaRPr lang="en-US" sz="1000" dirty="0"/>
          </a:p>
        </p:txBody>
      </p:sp>
      <p:sp>
        <p:nvSpPr>
          <p:cNvPr id="37" name="Text 29"/>
          <p:cNvSpPr/>
          <p:nvPr/>
        </p:nvSpPr>
        <p:spPr>
          <a:xfrm>
            <a:off x="2542032" y="400507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up to 5 emergency contacts; all receive simultaneous WhatsApp alerts on SOS.</a:t>
            </a:r>
            <a:endParaRPr lang="en-US" sz="800" dirty="0"/>
          </a:p>
        </p:txBody>
      </p:sp>
      <p:sp>
        <p:nvSpPr>
          <p:cNvPr id="38" name="Shape 30"/>
          <p:cNvSpPr/>
          <p:nvPr/>
        </p:nvSpPr>
        <p:spPr>
          <a:xfrm>
            <a:off x="4626864" y="2816352"/>
            <a:ext cx="2011680" cy="1828800"/>
          </a:xfrm>
          <a:prstGeom prst="rect">
            <a:avLst/>
          </a:prstGeom>
          <a:solidFill>
            <a:srgbClr val="16213E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9" name="Shape 31"/>
          <p:cNvSpPr/>
          <p:nvPr/>
        </p:nvSpPr>
        <p:spPr>
          <a:xfrm>
            <a:off x="4626864" y="2816352"/>
            <a:ext cx="64008" cy="18288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12664" y="3017520"/>
            <a:ext cx="594360" cy="594360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4718304" y="37124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112 Call</a:t>
            </a:r>
            <a:endParaRPr lang="en-US" sz="1000" dirty="0"/>
          </a:p>
        </p:txBody>
      </p:sp>
      <p:sp>
        <p:nvSpPr>
          <p:cNvPr id="42" name="Text 33"/>
          <p:cNvSpPr/>
          <p:nvPr/>
        </p:nvSpPr>
        <p:spPr>
          <a:xfrm>
            <a:off x="4718304" y="400507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call to national police helpline integrated directly within the app.</a:t>
            </a:r>
            <a:endParaRPr lang="en-US" sz="800" dirty="0"/>
          </a:p>
        </p:txBody>
      </p:sp>
      <p:sp>
        <p:nvSpPr>
          <p:cNvPr id="43" name="Shape 34"/>
          <p:cNvSpPr/>
          <p:nvPr/>
        </p:nvSpPr>
        <p:spPr>
          <a:xfrm>
            <a:off x="6803136" y="2816352"/>
            <a:ext cx="2011680" cy="182880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4" name="Shape 35"/>
          <p:cNvSpPr/>
          <p:nvPr/>
        </p:nvSpPr>
        <p:spPr>
          <a:xfrm>
            <a:off x="6803136" y="2816352"/>
            <a:ext cx="64008" cy="18288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88936" y="3017520"/>
            <a:ext cx="594360" cy="594360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6894576" y="37124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</a:t>
            </a:r>
            <a:endParaRPr lang="en-US" sz="1000" dirty="0"/>
          </a:p>
        </p:txBody>
      </p:sp>
      <p:sp>
        <p:nvSpPr>
          <p:cNvPr id="47" name="Text 37"/>
          <p:cNvSpPr/>
          <p:nvPr/>
        </p:nvSpPr>
        <p:spPr>
          <a:xfrm>
            <a:off x="6894576" y="400507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authentication ensures only verified users can access and trigger SOS.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📲  SOS + WhatsApp Guardian Alert – New Feature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37760"/>
            <a:ext cx="6400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Safety Application  |  Parth Tyagi  |  2427030039  |  Sec-K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937760"/>
            <a:ext cx="457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0" y="91440"/>
            <a:ext cx="2103120" cy="47548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9144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🆕  ETE ADDITION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804672"/>
            <a:ext cx="4114800" cy="2926080"/>
          </a:xfrm>
          <a:prstGeom prst="rect">
            <a:avLst/>
          </a:prstGeom>
          <a:solidFill>
            <a:srgbClr val="16213E"/>
          </a:solidFill>
          <a:ln w="12700">
            <a:solidFill>
              <a:srgbClr val="25D3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804672"/>
            <a:ext cx="64008" cy="2926080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868680"/>
            <a:ext cx="411480" cy="4114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349240" y="8686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Message Preview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892040" y="1353312"/>
            <a:ext cx="3749040" cy="2212848"/>
          </a:xfrm>
          <a:prstGeom prst="rect">
            <a:avLst/>
          </a:prstGeom>
          <a:solidFill>
            <a:srgbClr val="1E3A2F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56048" y="1389888"/>
            <a:ext cx="3621024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SOS ALERT – EMERGENCY!
</a:t>
            </a:r>
            <a:pPr indent="0" marL="0">
              <a:buNone/>
            </a:pPr>
            <a:r>
              <a:rPr lang="en-US" sz="800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━━━━━━━━━━━━━━━━━━━
</a:t>
            </a:r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Name: Priya Sharma
</a:t>
            </a:r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Phone: +91-98765-XXXXX
</a:t>
            </a:r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🩸 Blood Type: B+
</a:t>
            </a:r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Medical: No known allergies
</a:t>
            </a:r>
            <a:pPr indent="0" marL="0">
              <a:buNone/>
            </a:pPr>
            <a:r>
              <a:rPr lang="en-US" sz="800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━━━━━━━━━━━━━━━━━━━
</a:t>
            </a:r>
            <a:pPr indent="0" marL="0">
              <a:buNone/>
            </a:pPr>
            <a:r>
              <a:rPr lang="en-US" sz="9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Live Location:
</a:t>
            </a:r>
            <a:pPr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https://maps.google.com/?q=28.6139,77.2090
</a:t>
            </a:r>
            <a:pPr indent="0" marL="0">
              <a:buNone/>
            </a:pPr>
            <a:r>
              <a:rPr lang="en-US" sz="800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━━━━━━━━━━━━━━━━━━━
</a:t>
            </a:r>
            <a:pPr indent="0" marL="0">
              <a:buNone/>
            </a:pPr>
            <a:r>
              <a:rPr lang="en-US" sz="8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Guardian: Rajesh Sharma (Father)
</a:t>
            </a:r>
            <a:pPr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via Women Safety App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20040" y="941832"/>
            <a:ext cx="475488" cy="47548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0040" y="941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96112" y="877824"/>
            <a:ext cx="3657600" cy="640080"/>
          </a:xfrm>
          <a:prstGeom prst="rect">
            <a:avLst/>
          </a:prstGeom>
          <a:solidFill>
            <a:srgbClr val="16213E"/>
          </a:solidFill>
          <a:ln w="12700">
            <a:solidFill>
              <a:srgbClr val="53348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96112" y="877824"/>
            <a:ext cx="64008" cy="6400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42416" y="8961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Presses SOS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42416" y="11521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tap on the large SOS button on app home screen.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530352" y="1417320"/>
            <a:ext cx="9144" cy="192024"/>
          </a:xfrm>
          <a:prstGeom prst="line">
            <a:avLst/>
          </a:prstGeom>
          <a:noFill/>
          <a:ln w="12700">
            <a:solidFill>
              <a:srgbClr val="8888AA"/>
            </a:solidFill>
            <a:prstDash val="dash"/>
          </a:ln>
        </p:spPr>
      </p:sp>
      <p:sp>
        <p:nvSpPr>
          <p:cNvPr id="23" name="Shape 20"/>
          <p:cNvSpPr/>
          <p:nvPr/>
        </p:nvSpPr>
        <p:spPr>
          <a:xfrm>
            <a:off x="320040" y="1709928"/>
            <a:ext cx="475488" cy="47548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0040" y="1709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96112" y="1645920"/>
            <a:ext cx="3657600" cy="640080"/>
          </a:xfrm>
          <a:prstGeom prst="rect">
            <a:avLst/>
          </a:prstGeom>
          <a:solidFill>
            <a:srgbClr val="16213E"/>
          </a:solidFill>
          <a:ln w="12700">
            <a:solidFill>
              <a:srgbClr val="53348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896112" y="1645920"/>
            <a:ext cx="64008" cy="6400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42416" y="16642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Coordinates Fetched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1042416" y="1920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retrieves live GPS coordinates in real time.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530352" y="2185416"/>
            <a:ext cx="9144" cy="192024"/>
          </a:xfrm>
          <a:prstGeom prst="line">
            <a:avLst/>
          </a:prstGeom>
          <a:noFill/>
          <a:ln w="12700">
            <a:solidFill>
              <a:srgbClr val="8888AA"/>
            </a:solidFill>
            <a:prstDash val="dash"/>
          </a:ln>
        </p:spPr>
      </p:sp>
      <p:sp>
        <p:nvSpPr>
          <p:cNvPr id="30" name="Shape 27"/>
          <p:cNvSpPr/>
          <p:nvPr/>
        </p:nvSpPr>
        <p:spPr>
          <a:xfrm>
            <a:off x="320040" y="2478024"/>
            <a:ext cx="475488" cy="47548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20040" y="2478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896112" y="2414016"/>
            <a:ext cx="3657600" cy="640080"/>
          </a:xfrm>
          <a:prstGeom prst="rect">
            <a:avLst/>
          </a:prstGeom>
          <a:solidFill>
            <a:srgbClr val="16213E"/>
          </a:solidFill>
          <a:ln w="12700">
            <a:solidFill>
              <a:srgbClr val="53348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896112" y="2414016"/>
            <a:ext cx="64008" cy="6400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42416" y="24323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 Pulled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1042416" y="268833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phone, blood type, medical info retrieved from DB.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530352" y="2953512"/>
            <a:ext cx="9144" cy="192024"/>
          </a:xfrm>
          <a:prstGeom prst="line">
            <a:avLst/>
          </a:prstGeom>
          <a:noFill/>
          <a:ln w="12700">
            <a:solidFill>
              <a:srgbClr val="8888AA"/>
            </a:solidFill>
            <a:prstDash val="dash"/>
          </a:ln>
        </p:spPr>
      </p:sp>
      <p:sp>
        <p:nvSpPr>
          <p:cNvPr id="37" name="Shape 34"/>
          <p:cNvSpPr/>
          <p:nvPr/>
        </p:nvSpPr>
        <p:spPr>
          <a:xfrm>
            <a:off x="320040" y="3246120"/>
            <a:ext cx="475488" cy="47548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20040" y="3246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896112" y="3182112"/>
            <a:ext cx="3657600" cy="640080"/>
          </a:xfrm>
          <a:prstGeom prst="rect">
            <a:avLst/>
          </a:prstGeom>
          <a:solidFill>
            <a:srgbClr val="16213E"/>
          </a:solidFill>
          <a:ln w="12700">
            <a:solidFill>
              <a:srgbClr val="53348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896112" y="3182112"/>
            <a:ext cx="64008" cy="6400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042416" y="32004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 Account Verified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1042416" y="34564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guardian's phone number confirmed from account.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530352" y="3721608"/>
            <a:ext cx="9144" cy="192024"/>
          </a:xfrm>
          <a:prstGeom prst="line">
            <a:avLst/>
          </a:prstGeom>
          <a:noFill/>
          <a:ln w="12700">
            <a:solidFill>
              <a:srgbClr val="8888AA"/>
            </a:solidFill>
            <a:prstDash val="dash"/>
          </a:ln>
        </p:spPr>
      </p:sp>
      <p:sp>
        <p:nvSpPr>
          <p:cNvPr id="44" name="Shape 41"/>
          <p:cNvSpPr/>
          <p:nvPr/>
        </p:nvSpPr>
        <p:spPr>
          <a:xfrm>
            <a:off x="320040" y="4014216"/>
            <a:ext cx="475488" cy="47548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20040" y="40142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896112" y="3950208"/>
            <a:ext cx="3657600" cy="640080"/>
          </a:xfrm>
          <a:prstGeom prst="rect">
            <a:avLst/>
          </a:prstGeom>
          <a:solidFill>
            <a:srgbClr val="16213E"/>
          </a:solidFill>
          <a:ln w="12700">
            <a:solidFill>
              <a:srgbClr val="53348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896112" y="3950208"/>
            <a:ext cx="64008" cy="6400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42416" y="396849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Message Sent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1042416" y="42245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SOS message auto-sent via WhatsApp API to guardian.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Guardian Account &amp; User Registration System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37760"/>
            <a:ext cx="6400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Safety Application  |  Parth Tyagi  |  2427030039  |  Sec-K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937760"/>
            <a:ext cx="457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804672"/>
            <a:ext cx="4023360" cy="3886200"/>
          </a:xfrm>
          <a:prstGeom prst="rect">
            <a:avLst/>
          </a:prstGeom>
          <a:solidFill>
            <a:srgbClr val="16213E"/>
          </a:solidFill>
          <a:ln w="1270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804672"/>
            <a:ext cx="64008" cy="38862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8686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 Form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2618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Name: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828800" y="1289304"/>
            <a:ext cx="2286000" cy="219456"/>
          </a:xfrm>
          <a:prstGeom prst="rect">
            <a:avLst/>
          </a:prstGeom>
          <a:solidFill>
            <a:srgbClr val="0F3460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1289304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Sharma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16093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Number: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828800" y="1636776"/>
            <a:ext cx="2286000" cy="219456"/>
          </a:xfrm>
          <a:prstGeom prst="rect">
            <a:avLst/>
          </a:prstGeom>
          <a:solidFill>
            <a:srgbClr val="0F3460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74520" y="1636776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+91-98765-XXXXX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1956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828800" y="1984248"/>
            <a:ext cx="2286000" cy="219456"/>
          </a:xfrm>
          <a:prstGeom prst="rect">
            <a:avLst/>
          </a:prstGeom>
          <a:solidFill>
            <a:srgbClr val="0F3460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74520" y="198424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priya@email.com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" y="23042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Birth: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828800" y="2331720"/>
            <a:ext cx="2286000" cy="219456"/>
          </a:xfrm>
          <a:prstGeom prst="rect">
            <a:avLst/>
          </a:prstGeom>
          <a:solidFill>
            <a:srgbClr val="0F3460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74520" y="2331720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08 / 2002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26517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Type: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828800" y="2679192"/>
            <a:ext cx="2286000" cy="219456"/>
          </a:xfrm>
          <a:prstGeom prst="rect">
            <a:avLst/>
          </a:prstGeom>
          <a:solidFill>
            <a:srgbClr val="0F3460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74520" y="267919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B+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7200" y="29992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Conditions: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828800" y="3026664"/>
            <a:ext cx="2286000" cy="219456"/>
          </a:xfrm>
          <a:prstGeom prst="rect">
            <a:avLst/>
          </a:prstGeom>
          <a:solidFill>
            <a:srgbClr val="0F3460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74520" y="3026664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7200" y="33467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Address: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828800" y="3374136"/>
            <a:ext cx="2286000" cy="219456"/>
          </a:xfrm>
          <a:prstGeom prst="rect">
            <a:avLst/>
          </a:prstGeom>
          <a:solidFill>
            <a:srgbClr val="0F3460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74520" y="3374136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Delhi, India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" y="36941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 Name: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828800" y="3721608"/>
            <a:ext cx="2286000" cy="219456"/>
          </a:xfrm>
          <a:prstGeom prst="rect">
            <a:avLst/>
          </a:prstGeom>
          <a:solidFill>
            <a:srgbClr val="0F3460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74520" y="372160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Rajesh Sharma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57200" y="40416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 Phone: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828800" y="4069080"/>
            <a:ext cx="2286000" cy="219456"/>
          </a:xfrm>
          <a:prstGeom prst="rect">
            <a:avLst/>
          </a:prstGeom>
          <a:solidFill>
            <a:srgbClr val="0F3460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74520" y="4069080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+91-99999-XXXXX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572000" y="804672"/>
            <a:ext cx="4251960" cy="3886200"/>
          </a:xfrm>
          <a:prstGeom prst="rect">
            <a:avLst/>
          </a:prstGeom>
          <a:solidFill>
            <a:srgbClr val="16213E"/>
          </a:solidFill>
          <a:ln w="12700">
            <a:solidFill>
              <a:srgbClr val="00C9B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572000" y="804672"/>
            <a:ext cx="64008" cy="388620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8686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 Account System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709160" y="1353312"/>
            <a:ext cx="274320" cy="27432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9160" y="1353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074920" y="133502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 Registration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074920" y="15544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 creates their own account on the app with phone number, name &amp; relationship.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709160" y="2011680"/>
            <a:ext cx="274320" cy="27432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0916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074920" y="199339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Linking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074920" y="221284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links their profile to guardian's registered account via guardian's phone number.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709160" y="2670048"/>
            <a:ext cx="274320" cy="27432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09160" y="2670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074920" y="26517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on SOS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074920" y="287121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SOS is triggered, guardian's phone receives the full SOS WhatsApp message.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709160" y="3328416"/>
            <a:ext cx="274320" cy="27432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09160" y="3328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074920" y="331012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in SOS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074920" y="352958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Guardian's registered name appears in the SOS message for clear identification.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709160" y="3986784"/>
            <a:ext cx="274320" cy="27432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09160" y="3986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074920" y="396849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Included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5074920" y="41879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Victim's blood type, allergies &amp; conditions are auto-embedded in the alert.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Frontend Development – Step 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37760"/>
            <a:ext cx="6400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Safety Application  |  Parth Tyagi  |  2427030039  |  Sec-K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937760"/>
            <a:ext cx="457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804672"/>
            <a:ext cx="4160520" cy="196596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804672"/>
            <a:ext cx="64008" cy="19659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85953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Splash / Login Screen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207008"/>
            <a:ext cx="3886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App branding &amp; logo display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Email + Password login form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Register new account CTA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JWT token stored on success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804672"/>
            <a:ext cx="4160520" cy="196596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804672"/>
            <a:ext cx="64008" cy="19659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85953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Dashboard / Home Screen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1207008"/>
            <a:ext cx="3886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Large SOS button (centre)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User name greeting header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Quick access: 112 call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Recent alerts log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953512"/>
            <a:ext cx="4160520" cy="196596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953512"/>
            <a:ext cx="64008" cy="19659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00837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Profile Screen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355848"/>
            <a:ext cx="3886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Profile photo upload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Name, DOB, blood type display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Edit personal information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Medical history section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2953512"/>
            <a:ext cx="4160520" cy="196596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953512"/>
            <a:ext cx="64008" cy="19659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00837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Contacts &amp; Guardian Screen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3355848"/>
            <a:ext cx="3886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Add up to 5 emergency contacts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Guardian account link setup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Verify guardian phone number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View linked guardian details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4681728"/>
            <a:ext cx="8503920" cy="1828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" y="46817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React Native  |  State Management: Redux  |  Navigation: React Navigation  |  UI: NativeBase + Custom Components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Backend Development – Step 2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37760"/>
            <a:ext cx="6400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Safety Application  |  Parth Tyagi  |  2427030039  |  Sec-K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937760"/>
            <a:ext cx="457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22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Endpoints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188720"/>
            <a:ext cx="4754880" cy="475488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188720"/>
            <a:ext cx="731520" cy="47548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188720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5568" y="12252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/api/auth/register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15568" y="14447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new user with personal &amp; medical details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20040" y="1737360"/>
            <a:ext cx="4754880" cy="475488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37360"/>
            <a:ext cx="731520" cy="47548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737360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5568" y="17739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/api/auth/login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15568" y="199339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user, return JWT token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20040" y="2286000"/>
            <a:ext cx="4754880" cy="475488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286000"/>
            <a:ext cx="731520" cy="47548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286000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5568" y="23225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/api/user/profile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15568" y="25420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user profile with guardian info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20040" y="2834640"/>
            <a:ext cx="4754880" cy="475488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2834640"/>
            <a:ext cx="731520" cy="47548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834640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5568" y="287121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/api/user/update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15568" y="30906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profile photo, medical data, contacts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20040" y="3383280"/>
            <a:ext cx="4754880" cy="475488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3383280"/>
            <a:ext cx="731520" cy="47548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383280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15568" y="34198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/api/sos/trigger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115568" y="363931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SOS: fetch GPS, send WhatsApp to all contacts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20040" y="3931920"/>
            <a:ext cx="4754880" cy="475488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3931920"/>
            <a:ext cx="731520" cy="47548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3931920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15568" y="39684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/api/guardian/link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115568" y="41879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guardian account to user profile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257800" y="804672"/>
            <a:ext cx="3566160" cy="4069080"/>
          </a:xfrm>
          <a:prstGeom prst="rect">
            <a:avLst/>
          </a:prstGeom>
          <a:solidFill>
            <a:srgbClr val="16213E"/>
          </a:solidFill>
          <a:ln w="12700">
            <a:solidFill>
              <a:srgbClr val="53348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257800" y="804672"/>
            <a:ext cx="64008" cy="4069080"/>
          </a:xfrm>
          <a:prstGeom prst="rect">
            <a:avLst/>
          </a:prstGeom>
          <a:solidFill>
            <a:srgbClr val="533483"/>
          </a:solidFill>
          <a:ln w="12700">
            <a:solidFill>
              <a:srgbClr val="53348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94960" y="868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3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Services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394960" y="1261872"/>
            <a:ext cx="3291840" cy="502920"/>
          </a:xfrm>
          <a:prstGeom prst="rect">
            <a:avLst/>
          </a:prstGeom>
          <a:solidFill>
            <a:srgbClr val="0F3460">
              <a:alpha val="70000"/>
            </a:srgbClr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0" y="12984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486400" y="1517904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 server handling all app requests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394960" y="1847088"/>
            <a:ext cx="3291840" cy="502920"/>
          </a:xfrm>
          <a:prstGeom prst="rect">
            <a:avLst/>
          </a:prstGeom>
          <a:solidFill>
            <a:srgbClr val="0F3460">
              <a:alpha val="70000"/>
            </a:srgbClr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0" y="188366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486400" y="210312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DB for user profiles, contacts, SOS logs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394960" y="2432304"/>
            <a:ext cx="3291840" cy="502920"/>
          </a:xfrm>
          <a:prstGeom prst="rect">
            <a:avLst/>
          </a:prstGeom>
          <a:solidFill>
            <a:srgbClr val="0F3460">
              <a:alpha val="70000"/>
            </a:srgbClr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0" y="24688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486400" y="2688336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token-based user session management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394960" y="3017520"/>
            <a:ext cx="3291840" cy="502920"/>
          </a:xfrm>
          <a:prstGeom prst="rect">
            <a:avLst/>
          </a:prstGeom>
          <a:solidFill>
            <a:srgbClr val="0F3460">
              <a:alpha val="70000"/>
            </a:srgbClr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6400" y="305409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API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486400" y="327355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SOS message dispatch to guardians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394960" y="3602736"/>
            <a:ext cx="3291840" cy="502920"/>
          </a:xfrm>
          <a:prstGeom prst="rect">
            <a:avLst/>
          </a:prstGeom>
          <a:solidFill>
            <a:srgbClr val="0F3460">
              <a:alpha val="70000"/>
            </a:srgbClr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86400" y="363931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API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486400" y="3858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geocoding &amp; live map link generation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394960" y="4187952"/>
            <a:ext cx="3291840" cy="502920"/>
          </a:xfrm>
          <a:prstGeom prst="rect">
            <a:avLst/>
          </a:prstGeom>
          <a:solidFill>
            <a:srgbClr val="0F3460">
              <a:alpha val="70000"/>
            </a:srgbClr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86400" y="422452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 + Cloudinary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5486400" y="4443984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photo upload &amp; cloud storage service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Database Design &amp; Schema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37760"/>
            <a:ext cx="6400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Safety Application  |  Parth Tyagi  |  2427030039  |  Sec-K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937760"/>
            <a:ext cx="457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804672"/>
            <a:ext cx="4160520" cy="34747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80467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152144"/>
            <a:ext cx="4160520" cy="2633472"/>
          </a:xfrm>
          <a:prstGeom prst="rect">
            <a:avLst/>
          </a:prstGeom>
          <a:solidFill>
            <a:srgbClr val="16213E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152144"/>
            <a:ext cx="4160520" cy="219456"/>
          </a:xfrm>
          <a:prstGeom prst="rect">
            <a:avLst/>
          </a:prstGeom>
          <a:solidFill>
            <a:srgbClr val="0F3460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15214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_id (PK)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137160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0040" y="1591056"/>
            <a:ext cx="4160520" cy="219456"/>
          </a:xfrm>
          <a:prstGeom prst="rect">
            <a:avLst/>
          </a:prstGeom>
          <a:solidFill>
            <a:srgbClr val="0F3460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59105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181051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0040" y="2029968"/>
            <a:ext cx="4160520" cy="219456"/>
          </a:xfrm>
          <a:prstGeom prst="rect">
            <a:avLst/>
          </a:prstGeom>
          <a:solidFill>
            <a:srgbClr val="0F3460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029968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 (hashed)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224942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dob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" y="2468880"/>
            <a:ext cx="4160520" cy="219456"/>
          </a:xfrm>
          <a:prstGeom prst="rect">
            <a:avLst/>
          </a:prstGeom>
          <a:solidFill>
            <a:srgbClr val="0F3460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46888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268833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address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0040" y="2907792"/>
            <a:ext cx="4160520" cy="219456"/>
          </a:xfrm>
          <a:prstGeom prst="rect">
            <a:avLst/>
          </a:prstGeom>
          <a:solidFill>
            <a:srgbClr val="0F3460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90779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bloodType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7200" y="3127248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medicalConditions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0040" y="3346704"/>
            <a:ext cx="4160520" cy="219456"/>
          </a:xfrm>
          <a:prstGeom prst="rect">
            <a:avLst/>
          </a:prstGeom>
          <a:solidFill>
            <a:srgbClr val="0F3460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34670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profilePhoto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7200" y="356616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guardianId (FK)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54880" y="804672"/>
            <a:ext cx="4160520" cy="34747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54880" y="80467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754880" y="1152144"/>
            <a:ext cx="4160520" cy="1316736"/>
          </a:xfrm>
          <a:prstGeom prst="rect">
            <a:avLst/>
          </a:prstGeom>
          <a:solidFill>
            <a:srgbClr val="16213E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1152144"/>
            <a:ext cx="4160520" cy="219456"/>
          </a:xfrm>
          <a:prstGeom prst="rect">
            <a:avLst/>
          </a:prstGeom>
          <a:solidFill>
            <a:srgbClr val="0F3460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115214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_id (PK)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892040" y="137160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guardianName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754880" y="1591056"/>
            <a:ext cx="4160520" cy="219456"/>
          </a:xfrm>
          <a:prstGeom prst="rect">
            <a:avLst/>
          </a:prstGeom>
          <a:solidFill>
            <a:srgbClr val="0F3460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159105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guardianPhone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892040" y="181051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relationship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754880" y="2029968"/>
            <a:ext cx="4160520" cy="219456"/>
          </a:xfrm>
          <a:prstGeom prst="rect">
            <a:avLst/>
          </a:prstGeom>
          <a:solidFill>
            <a:srgbClr val="0F3460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2029968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linkedUserId (FK)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892040" y="224942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registeredOn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20040" y="2907792"/>
            <a:ext cx="4160520" cy="347472"/>
          </a:xfrm>
          <a:prstGeom prst="rect">
            <a:avLst/>
          </a:prstGeom>
          <a:solidFill>
            <a:srgbClr val="533483"/>
          </a:solidFill>
          <a:ln w="12700">
            <a:solidFill>
              <a:srgbClr val="53348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20040" y="290779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EmergencyContacts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20040" y="3255264"/>
            <a:ext cx="4160520" cy="1316736"/>
          </a:xfrm>
          <a:prstGeom prst="rect">
            <a:avLst/>
          </a:prstGeom>
          <a:solidFill>
            <a:srgbClr val="16213E"/>
          </a:solidFill>
          <a:ln w="12700">
            <a:solidFill>
              <a:srgbClr val="53348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" y="3255264"/>
            <a:ext cx="4160520" cy="219456"/>
          </a:xfrm>
          <a:prstGeom prst="rect">
            <a:avLst/>
          </a:prstGeom>
          <a:solidFill>
            <a:srgbClr val="0F3460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325526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_id (PK)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57200" y="347472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userId (FK)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20040" y="3694176"/>
            <a:ext cx="4160520" cy="219456"/>
          </a:xfrm>
          <a:prstGeom prst="rect">
            <a:avLst/>
          </a:prstGeom>
          <a:solidFill>
            <a:srgbClr val="0F3460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369417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contactName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57200" y="391363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contactPhone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20040" y="4133088"/>
            <a:ext cx="4160520" cy="219456"/>
          </a:xfrm>
          <a:prstGeom prst="rect">
            <a:avLst/>
          </a:prstGeom>
          <a:solidFill>
            <a:srgbClr val="0F3460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4133088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relation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57200" y="435254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754880" y="2907792"/>
            <a:ext cx="4160520" cy="3474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4754880" y="290779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SOSLogs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754880" y="3255264"/>
            <a:ext cx="4160520" cy="1536192"/>
          </a:xfrm>
          <a:prstGeom prst="rect">
            <a:avLst/>
          </a:prstGeom>
          <a:solidFill>
            <a:srgbClr val="16213E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754880" y="3255264"/>
            <a:ext cx="4160520" cy="219456"/>
          </a:xfrm>
          <a:prstGeom prst="rect">
            <a:avLst/>
          </a:prstGeom>
          <a:solidFill>
            <a:srgbClr val="0F3460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92040" y="325526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_id (PK)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892040" y="347472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userId (FK)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754880" y="3694176"/>
            <a:ext cx="4160520" cy="219456"/>
          </a:xfrm>
          <a:prstGeom prst="rect">
            <a:avLst/>
          </a:prstGeom>
          <a:solidFill>
            <a:srgbClr val="0F3460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92040" y="369417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latitude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892040" y="391363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longitude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754880" y="4133088"/>
            <a:ext cx="4160520" cy="219456"/>
          </a:xfrm>
          <a:prstGeom prst="rect">
            <a:avLst/>
          </a:prstGeom>
          <a:solidFill>
            <a:srgbClr val="0F3460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892040" y="4133088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4892040" y="435254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sentTo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4754880" y="4572000"/>
            <a:ext cx="4160520" cy="219456"/>
          </a:xfrm>
          <a:prstGeom prst="rect">
            <a:avLst/>
          </a:prstGeom>
          <a:solidFill>
            <a:srgbClr val="0F3460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892040" y="457200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SOS Alert – Detailed Working (Step 3)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37760"/>
            <a:ext cx="6400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Safety Application  |  Parth Tyagi  |  2427030039  |  Sec-K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937760"/>
            <a:ext cx="457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87552" y="1225296"/>
            <a:ext cx="9144" cy="182880"/>
          </a:xfrm>
          <a:prstGeom prst="line">
            <a:avLst/>
          </a:prstGeom>
          <a:noFill/>
          <a:ln w="19050">
            <a:solidFill>
              <a:srgbClr val="E9456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640080" y="841248"/>
            <a:ext cx="694944" cy="402336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841248"/>
            <a:ext cx="694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463040" y="841248"/>
            <a:ext cx="7360920" cy="475488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63040" y="841248"/>
            <a:ext cx="64008" cy="47548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18488" y="8503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Presses SOS Button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18488" y="107899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large SOS button on home screen. No unlock or confirmation required.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987552" y="1828800"/>
            <a:ext cx="9144" cy="182880"/>
          </a:xfrm>
          <a:prstGeom prst="line">
            <a:avLst/>
          </a:prstGeom>
          <a:noFill/>
          <a:ln w="19050">
            <a:solidFill>
              <a:srgbClr val="E94560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640080" y="1444752"/>
            <a:ext cx="694944" cy="402336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1444752"/>
            <a:ext cx="694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463040" y="1444752"/>
            <a:ext cx="7360920" cy="475488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63040" y="1444752"/>
            <a:ext cx="64008" cy="47548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18488" y="145389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Fetches Live GPS Coordinates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18488" y="168249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Geolocation API retrieves latitude &amp; longitude in real time.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987552" y="2432304"/>
            <a:ext cx="9144" cy="182880"/>
          </a:xfrm>
          <a:prstGeom prst="line">
            <a:avLst/>
          </a:prstGeom>
          <a:noFill/>
          <a:ln w="19050">
            <a:solidFill>
              <a:srgbClr val="E94560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640080" y="2048256"/>
            <a:ext cx="694944" cy="402336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" y="2048256"/>
            <a:ext cx="694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463040" y="2048256"/>
            <a:ext cx="7360920" cy="475488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463040" y="2048256"/>
            <a:ext cx="64008" cy="47548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18488" y="20574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Data Retrieved from Database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618488" y="2286000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 fetches: Name, Phone, Blood Type, Medical Conditions, Guardian info.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987552" y="3035808"/>
            <a:ext cx="9144" cy="182880"/>
          </a:xfrm>
          <a:prstGeom prst="line">
            <a:avLst/>
          </a:prstGeom>
          <a:noFill/>
          <a:ln w="19050">
            <a:solidFill>
              <a:srgbClr val="E94560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640080" y="2651760"/>
            <a:ext cx="694944" cy="402336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0080" y="2651760"/>
            <a:ext cx="694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463040" y="2651760"/>
            <a:ext cx="7360920" cy="475488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463040" y="2651760"/>
            <a:ext cx="64008" cy="47548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618488" y="26609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Link Generated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618488" y="2889504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converted into clickable Google Maps URL for easy navigation.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987552" y="3639312"/>
            <a:ext cx="9144" cy="182880"/>
          </a:xfrm>
          <a:prstGeom prst="line">
            <a:avLst/>
          </a:prstGeom>
          <a:noFill/>
          <a:ln w="19050">
            <a:solidFill>
              <a:srgbClr val="E94560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640080" y="3255264"/>
            <a:ext cx="694944" cy="402336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40080" y="3255264"/>
            <a:ext cx="694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463040" y="3255264"/>
            <a:ext cx="7360920" cy="475488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463040" y="3255264"/>
            <a:ext cx="64008" cy="47548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618488" y="32644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Message Constructed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618488" y="349300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assembled into structured SOS message template with user identity.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987552" y="4242816"/>
            <a:ext cx="9144" cy="182880"/>
          </a:xfrm>
          <a:prstGeom prst="line">
            <a:avLst/>
          </a:prstGeom>
          <a:noFill/>
          <a:ln w="19050">
            <a:solidFill>
              <a:srgbClr val="E94560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640080" y="3858768"/>
            <a:ext cx="694944" cy="402336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40080" y="3858768"/>
            <a:ext cx="694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463040" y="3858768"/>
            <a:ext cx="7360920" cy="475488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463040" y="3858768"/>
            <a:ext cx="64008" cy="475488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618488" y="38679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API Triggered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618488" y="409651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API dispatches message to guardian + all 5 emergency contacts.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40080" y="4462272"/>
            <a:ext cx="694944" cy="402336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40080" y="4462272"/>
            <a:ext cx="694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1463040" y="4462272"/>
            <a:ext cx="7360920" cy="475488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463040" y="4462272"/>
            <a:ext cx="64008" cy="47548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618488" y="447141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Log Recorded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618488" y="470001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timestamp, location, and delivery status saved in SOSLogs database table.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Security &amp; Authentication – Step 4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37760"/>
            <a:ext cx="6400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Safety Application  |  Parth Tyagi  |  2427030039  |  Sec-K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937760"/>
            <a:ext cx="457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804672"/>
            <a:ext cx="2697480" cy="1920240"/>
          </a:xfrm>
          <a:prstGeom prst="rect">
            <a:avLst/>
          </a:prstGeom>
          <a:solidFill>
            <a:srgbClr val="16213E"/>
          </a:solidFill>
          <a:ln w="1270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804672"/>
            <a:ext cx="64008" cy="19202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4168" y="969264"/>
            <a:ext cx="621792" cy="62179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29768" y="16824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29768" y="197510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Web Tokens used for stateless authentication. Tokens expire in 24 hours and must be refreshed.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200400" y="804672"/>
            <a:ext cx="2697480" cy="1920240"/>
          </a:xfrm>
          <a:prstGeom prst="rect">
            <a:avLst/>
          </a:prstGeom>
          <a:solidFill>
            <a:srgbClr val="16213E"/>
          </a:solidFill>
          <a:ln w="12700">
            <a:solidFill>
              <a:srgbClr val="00C9B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0" y="804672"/>
            <a:ext cx="64008" cy="192024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28" y="969264"/>
            <a:ext cx="621792" cy="62179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10128" y="16824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310128" y="197510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passwords hashed using bcrypt (salt rounds: 12) before storage. Plaintext never stored.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6080760" y="804672"/>
            <a:ext cx="2697480" cy="1920240"/>
          </a:xfrm>
          <a:prstGeom prst="rect">
            <a:avLst/>
          </a:prstGeom>
          <a:solidFill>
            <a:srgbClr val="16213E"/>
          </a:solidFill>
          <a:ln w="12700">
            <a:solidFill>
              <a:srgbClr val="53348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080760" y="804672"/>
            <a:ext cx="64008" cy="1920240"/>
          </a:xfrm>
          <a:prstGeom prst="rect">
            <a:avLst/>
          </a:prstGeom>
          <a:solidFill>
            <a:srgbClr val="533483"/>
          </a:solidFill>
          <a:ln w="12700">
            <a:solidFill>
              <a:srgbClr val="533483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88" y="969264"/>
            <a:ext cx="621792" cy="62179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90488" y="16824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Data at Rest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6190488" y="197510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fields (medical conditions, blood type) encrypted in MongoDB using field-level encryption.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320040" y="2889504"/>
            <a:ext cx="2697480" cy="1920240"/>
          </a:xfrm>
          <a:prstGeom prst="rect">
            <a:avLst/>
          </a:prstGeom>
          <a:solidFill>
            <a:srgbClr val="16213E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20040" y="2889504"/>
            <a:ext cx="64008" cy="19202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4168" y="3054096"/>
            <a:ext cx="621792" cy="62179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29768" y="37673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&amp; SSL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429768" y="405993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API communication secured over HTTPS. SSL certificates enforced for all endpoints.</a:t>
            </a:r>
            <a:endParaRPr lang="en-US" sz="800" dirty="0"/>
          </a:p>
        </p:txBody>
      </p:sp>
      <p:sp>
        <p:nvSpPr>
          <p:cNvPr id="28" name="Shape 22"/>
          <p:cNvSpPr/>
          <p:nvPr/>
        </p:nvSpPr>
        <p:spPr>
          <a:xfrm>
            <a:off x="3200400" y="2889504"/>
            <a:ext cx="2697480" cy="1920240"/>
          </a:xfrm>
          <a:prstGeom prst="rect">
            <a:avLst/>
          </a:prstGeom>
          <a:solidFill>
            <a:srgbClr val="16213E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200400" y="2889504"/>
            <a:ext cx="64008" cy="19202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4528" y="3054096"/>
            <a:ext cx="621792" cy="62179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310128" y="37673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3310128" y="405993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 and user roles separate. Guardians cannot view other users' data without linking.</a:t>
            </a:r>
            <a:endParaRPr lang="en-US" sz="800" dirty="0"/>
          </a:p>
        </p:txBody>
      </p:sp>
      <p:sp>
        <p:nvSpPr>
          <p:cNvPr id="33" name="Shape 26"/>
          <p:cNvSpPr/>
          <p:nvPr/>
        </p:nvSpPr>
        <p:spPr>
          <a:xfrm>
            <a:off x="6080760" y="2889504"/>
            <a:ext cx="2697480" cy="192024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6080760" y="2889504"/>
            <a:ext cx="64008" cy="19202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4888" y="3054096"/>
            <a:ext cx="621792" cy="62179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190488" y="37673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000" dirty="0"/>
          </a:p>
        </p:txBody>
      </p:sp>
      <p:sp>
        <p:nvSpPr>
          <p:cNvPr id="37" name="Text 29"/>
          <p:cNvSpPr/>
          <p:nvPr/>
        </p:nvSpPr>
        <p:spPr>
          <a:xfrm>
            <a:off x="6190488" y="405993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endpoint rate-limited to prevent spam. IP-based throttling prevents brute force attacks.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Testing &amp; Verification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37760"/>
            <a:ext cx="6400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Safety Application  |  Parth Tyagi  |  2427030039  |  Sec-K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937760"/>
            <a:ext cx="457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804672"/>
            <a:ext cx="2011680" cy="329184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80467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31720" y="804672"/>
            <a:ext cx="2926080" cy="329184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80467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/ Action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257800" y="804672"/>
            <a:ext cx="2926080" cy="329184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0" y="80467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83880" y="804672"/>
            <a:ext cx="1143000" cy="329184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80467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1133856"/>
            <a:ext cx="2011680" cy="384048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4904" y="1133856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331720" y="1133856"/>
            <a:ext cx="2926080" cy="384048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86584" y="1133856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all required fields and submit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257800" y="1133856"/>
            <a:ext cx="2926080" cy="384048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12664" y="1133856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account created, data stored in DB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183880" y="1133856"/>
            <a:ext cx="1143000" cy="384048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38744" y="1133856"/>
            <a:ext cx="1033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F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0040" y="1536192"/>
            <a:ext cx="2011680" cy="384048"/>
          </a:xfrm>
          <a:prstGeom prst="rect">
            <a:avLst/>
          </a:prstGeom>
          <a:solidFill>
            <a:srgbClr val="0F3460">
              <a:alpha val="60000"/>
            </a:srgbClr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" y="1536192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Auth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331720" y="1536192"/>
            <a:ext cx="2926080" cy="384048"/>
          </a:xfrm>
          <a:prstGeom prst="rect">
            <a:avLst/>
          </a:prstGeom>
          <a:solidFill>
            <a:srgbClr val="0F3460">
              <a:alpha val="60000"/>
            </a:srgbClr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86584" y="1536192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credentials entered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257800" y="1536192"/>
            <a:ext cx="2926080" cy="384048"/>
          </a:xfrm>
          <a:prstGeom prst="rect">
            <a:avLst/>
          </a:prstGeom>
          <a:solidFill>
            <a:srgbClr val="0F3460">
              <a:alpha val="60000"/>
            </a:srgbClr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12664" y="1536192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 returned, dashboard loaded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8183880" y="1536192"/>
            <a:ext cx="1143000" cy="384048"/>
          </a:xfrm>
          <a:prstGeom prst="rect">
            <a:avLst/>
          </a:prstGeom>
          <a:solidFill>
            <a:srgbClr val="0F3460">
              <a:alpha val="60000"/>
            </a:srgbClr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38744" y="1536192"/>
            <a:ext cx="1033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F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20040" y="1938528"/>
            <a:ext cx="2011680" cy="384048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4904" y="1938528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Update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331720" y="1938528"/>
            <a:ext cx="2926080" cy="384048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386584" y="1938528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name, upload photo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257800" y="1938528"/>
            <a:ext cx="2926080" cy="384048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12664" y="1938528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updated, photo stored on cloud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8183880" y="1938528"/>
            <a:ext cx="1143000" cy="384048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38744" y="1938528"/>
            <a:ext cx="1033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F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20040" y="2340864"/>
            <a:ext cx="2011680" cy="384048"/>
          </a:xfrm>
          <a:prstGeom prst="rect">
            <a:avLst/>
          </a:prstGeom>
          <a:solidFill>
            <a:srgbClr val="0F3460">
              <a:alpha val="60000"/>
            </a:srgbClr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4904" y="234086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 Linking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331720" y="2340864"/>
            <a:ext cx="2926080" cy="384048"/>
          </a:xfrm>
          <a:prstGeom prst="rect">
            <a:avLst/>
          </a:prstGeom>
          <a:solidFill>
            <a:srgbClr val="0F3460">
              <a:alpha val="60000"/>
            </a:srgbClr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386584" y="2340864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guardian's registered phone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257800" y="2340864"/>
            <a:ext cx="2926080" cy="384048"/>
          </a:xfrm>
          <a:prstGeom prst="rect">
            <a:avLst/>
          </a:prstGeom>
          <a:solidFill>
            <a:srgbClr val="0F3460">
              <a:alpha val="60000"/>
            </a:srgbClr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12664" y="2340864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 account linked to user profile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8183880" y="2340864"/>
            <a:ext cx="1143000" cy="384048"/>
          </a:xfrm>
          <a:prstGeom prst="rect">
            <a:avLst/>
          </a:prstGeom>
          <a:solidFill>
            <a:srgbClr val="0F3460">
              <a:alpha val="60000"/>
            </a:srgbClr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38744" y="2340864"/>
            <a:ext cx="1033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F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20040" y="2743200"/>
            <a:ext cx="2011680" cy="384048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4904" y="274320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Save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331720" y="2743200"/>
            <a:ext cx="2926080" cy="384048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386584" y="2743200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5 emergency contacts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257800" y="2743200"/>
            <a:ext cx="2926080" cy="384048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312664" y="2743200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contacts stored and retrievable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8183880" y="2743200"/>
            <a:ext cx="1143000" cy="384048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238744" y="2743200"/>
            <a:ext cx="1033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F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320040" y="3145536"/>
            <a:ext cx="2011680" cy="384048"/>
          </a:xfrm>
          <a:prstGeom prst="rect">
            <a:avLst/>
          </a:prstGeom>
          <a:solidFill>
            <a:srgbClr val="0F3460">
              <a:alpha val="60000"/>
            </a:srgbClr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74904" y="3145536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Button Press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2331720" y="3145536"/>
            <a:ext cx="2926080" cy="384048"/>
          </a:xfrm>
          <a:prstGeom prst="rect">
            <a:avLst/>
          </a:prstGeom>
          <a:solidFill>
            <a:srgbClr val="0F3460">
              <a:alpha val="60000"/>
            </a:srgbClr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386584" y="3145536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SOS from home screen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5257800" y="3145536"/>
            <a:ext cx="2926080" cy="384048"/>
          </a:xfrm>
          <a:prstGeom prst="rect">
            <a:avLst/>
          </a:prstGeom>
          <a:solidFill>
            <a:srgbClr val="0F3460">
              <a:alpha val="60000"/>
            </a:srgbClr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312664" y="3145536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message sent within 3 seconds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8183880" y="3145536"/>
            <a:ext cx="1143000" cy="384048"/>
          </a:xfrm>
          <a:prstGeom prst="rect">
            <a:avLst/>
          </a:prstGeom>
          <a:solidFill>
            <a:srgbClr val="0F3460">
              <a:alpha val="60000"/>
            </a:srgbClr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238744" y="3145536"/>
            <a:ext cx="1033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F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320040" y="3547872"/>
            <a:ext cx="2011680" cy="384048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74904" y="3547872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Accuracy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2331720" y="3547872"/>
            <a:ext cx="2926080" cy="384048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386584" y="3547872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triggered at known location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5257800" y="3547872"/>
            <a:ext cx="2926080" cy="384048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312664" y="3547872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link navigates to exact spot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8183880" y="3547872"/>
            <a:ext cx="1143000" cy="384048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238744" y="3547872"/>
            <a:ext cx="1033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F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320040" y="3950208"/>
            <a:ext cx="2011680" cy="384048"/>
          </a:xfrm>
          <a:prstGeom prst="rect">
            <a:avLst/>
          </a:prstGeom>
          <a:solidFill>
            <a:srgbClr val="0F3460">
              <a:alpha val="60000"/>
            </a:srgbClr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74904" y="3950208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in SOS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2331720" y="3950208"/>
            <a:ext cx="2926080" cy="384048"/>
          </a:xfrm>
          <a:prstGeom prst="rect">
            <a:avLst/>
          </a:prstGeom>
          <a:solidFill>
            <a:srgbClr val="0F3460">
              <a:alpha val="60000"/>
            </a:srgbClr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386584" y="3950208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type &amp; condition set in profile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5257800" y="3950208"/>
            <a:ext cx="2926080" cy="384048"/>
          </a:xfrm>
          <a:prstGeom prst="rect">
            <a:avLst/>
          </a:prstGeom>
          <a:solidFill>
            <a:srgbClr val="0F3460">
              <a:alpha val="60000"/>
            </a:srgbClr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312664" y="3950208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type + condition appear in WhatsApp msg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8183880" y="3950208"/>
            <a:ext cx="1143000" cy="384048"/>
          </a:xfrm>
          <a:prstGeom prst="rect">
            <a:avLst/>
          </a:prstGeom>
          <a:solidFill>
            <a:srgbClr val="0F3460">
              <a:alpha val="60000"/>
            </a:srgbClr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238744" y="3950208"/>
            <a:ext cx="1033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F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320040" y="4352544"/>
            <a:ext cx="2011680" cy="384048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74904" y="435254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Log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2331720" y="4352544"/>
            <a:ext cx="2926080" cy="384048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386584" y="4352544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SOS multiple times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5257800" y="4352544"/>
            <a:ext cx="2926080" cy="384048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312664" y="4352544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SOS events logged with timestamp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8183880" y="4352544"/>
            <a:ext cx="1143000" cy="384048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238744" y="4352544"/>
            <a:ext cx="1033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F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Results &amp; Module Outcomes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37760"/>
            <a:ext cx="6400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Safety Application  |  Parth Tyagi  |  2427030039  |  Sec-K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937760"/>
            <a:ext cx="457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804672"/>
            <a:ext cx="2194560" cy="310896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14600" y="804672"/>
            <a:ext cx="5212080" cy="310896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804672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26680" y="804672"/>
            <a:ext cx="1417320" cy="310896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26680" y="8046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1115568"/>
            <a:ext cx="2194560" cy="347472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" y="1115568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14600" y="1115568"/>
            <a:ext cx="5212080" cy="347472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87752" y="1115568"/>
            <a:ext cx="5065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Form: Name, Phone, Email, DOB, Age, Address, Medical Info, Blood Type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726680" y="1115568"/>
            <a:ext cx="1417320" cy="347472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99832" y="1115568"/>
            <a:ext cx="1271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F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Complete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" y="1481328"/>
            <a:ext cx="2194560" cy="347472"/>
          </a:xfrm>
          <a:prstGeom prst="rect">
            <a:avLst/>
          </a:prstGeom>
          <a:solidFill>
            <a:srgbClr val="0F3460">
              <a:alpha val="60000"/>
            </a:srgbClr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" y="1481328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System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14600" y="1481328"/>
            <a:ext cx="5212080" cy="347472"/>
          </a:xfrm>
          <a:prstGeom prst="rect">
            <a:avLst/>
          </a:prstGeom>
          <a:solidFill>
            <a:srgbClr val="0F3460">
              <a:alpha val="60000"/>
            </a:srgbClr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87752" y="1481328"/>
            <a:ext cx="5065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JWT-secured login with password hashing (bcrypt)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726680" y="1481328"/>
            <a:ext cx="1417320" cy="347472"/>
          </a:xfrm>
          <a:prstGeom prst="rect">
            <a:avLst/>
          </a:prstGeom>
          <a:solidFill>
            <a:srgbClr val="0F3460">
              <a:alpha val="60000"/>
            </a:srgbClr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99832" y="1481328"/>
            <a:ext cx="1271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F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Complete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0040" y="1847088"/>
            <a:ext cx="2194560" cy="347472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3192" y="1847088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Section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514600" y="1847088"/>
            <a:ext cx="5212080" cy="347472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87752" y="1847088"/>
            <a:ext cx="5065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all user details + profile photo; edit functionality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726680" y="1847088"/>
            <a:ext cx="1417320" cy="347472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99832" y="1847088"/>
            <a:ext cx="1271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F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Complete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20040" y="2212848"/>
            <a:ext cx="2194560" cy="347472"/>
          </a:xfrm>
          <a:prstGeom prst="rect">
            <a:avLst/>
          </a:prstGeom>
          <a:solidFill>
            <a:srgbClr val="0F3460">
              <a:alpha val="60000"/>
            </a:srgbClr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3192" y="2212848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Contacts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514600" y="2212848"/>
            <a:ext cx="5212080" cy="347472"/>
          </a:xfrm>
          <a:prstGeom prst="rect">
            <a:avLst/>
          </a:prstGeom>
          <a:solidFill>
            <a:srgbClr val="0F3460">
              <a:alpha val="60000"/>
            </a:srgbClr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87752" y="2212848"/>
            <a:ext cx="5065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up to 5 contacts with name, phone &amp; relation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726680" y="2212848"/>
            <a:ext cx="1417320" cy="347472"/>
          </a:xfrm>
          <a:prstGeom prst="rect">
            <a:avLst/>
          </a:prstGeom>
          <a:solidFill>
            <a:srgbClr val="0F3460">
              <a:alpha val="60000"/>
            </a:srgbClr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99832" y="2212848"/>
            <a:ext cx="1271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F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Complete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20040" y="2578608"/>
            <a:ext cx="2194560" cy="347472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3192" y="2578608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Upload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514600" y="2578608"/>
            <a:ext cx="5212080" cy="347472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87752" y="2578608"/>
            <a:ext cx="5065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can upload profile picture, stored on Cloudinary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726680" y="2578608"/>
            <a:ext cx="1417320" cy="347472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99832" y="2578608"/>
            <a:ext cx="1271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F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Complete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20040" y="2944368"/>
            <a:ext cx="2194560" cy="347472"/>
          </a:xfrm>
          <a:prstGeom prst="rect">
            <a:avLst/>
          </a:prstGeom>
          <a:solidFill>
            <a:srgbClr val="0F3460">
              <a:alpha val="60000"/>
            </a:srgbClr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93192" y="2944368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 Account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514600" y="2944368"/>
            <a:ext cx="5212080" cy="347472"/>
          </a:xfrm>
          <a:prstGeom prst="rect">
            <a:avLst/>
          </a:prstGeom>
          <a:solidFill>
            <a:srgbClr val="0F3460">
              <a:alpha val="60000"/>
            </a:srgbClr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87752" y="2944368"/>
            <a:ext cx="5065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 registers separately; linked to user via phone number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7726680" y="2944368"/>
            <a:ext cx="1417320" cy="347472"/>
          </a:xfrm>
          <a:prstGeom prst="rect">
            <a:avLst/>
          </a:prstGeom>
          <a:solidFill>
            <a:srgbClr val="0F3460">
              <a:alpha val="60000"/>
            </a:srgbClr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99832" y="2944368"/>
            <a:ext cx="1271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F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Complete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20040" y="3310128"/>
            <a:ext cx="2194560" cy="347472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93192" y="3310128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Button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514600" y="3310128"/>
            <a:ext cx="5212080" cy="347472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587752" y="3310128"/>
            <a:ext cx="5065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SOS triggers WhatsApp alert in under 3 seconds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7726680" y="3310128"/>
            <a:ext cx="1417320" cy="347472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799832" y="3310128"/>
            <a:ext cx="1271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F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Complete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320040" y="3675888"/>
            <a:ext cx="2194560" cy="347472"/>
          </a:xfrm>
          <a:prstGeom prst="rect">
            <a:avLst/>
          </a:prstGeom>
          <a:solidFill>
            <a:srgbClr val="0F3460">
              <a:alpha val="60000"/>
            </a:srgbClr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93192" y="3675888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Alert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514600" y="3675888"/>
            <a:ext cx="5212080" cy="347472"/>
          </a:xfrm>
          <a:prstGeom prst="rect">
            <a:avLst/>
          </a:prstGeom>
          <a:solidFill>
            <a:srgbClr val="0F3460">
              <a:alpha val="60000"/>
            </a:srgbClr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587752" y="3675888"/>
            <a:ext cx="5065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Sends: name, phone, blood type, medical data + Google Maps link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7726680" y="3675888"/>
            <a:ext cx="1417320" cy="347472"/>
          </a:xfrm>
          <a:prstGeom prst="rect">
            <a:avLst/>
          </a:prstGeom>
          <a:solidFill>
            <a:srgbClr val="0F3460">
              <a:alpha val="60000"/>
            </a:srgbClr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799832" y="3675888"/>
            <a:ext cx="1271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F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Complete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320040" y="4041648"/>
            <a:ext cx="2194560" cy="347472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93192" y="4041648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Logging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2514600" y="4041648"/>
            <a:ext cx="5212080" cy="347472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587752" y="4041648"/>
            <a:ext cx="5065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SOS events stored in DB with timestamp &amp; location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7726680" y="4041648"/>
            <a:ext cx="1417320" cy="347472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799832" y="4041648"/>
            <a:ext cx="1271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F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Complete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320040" y="4407408"/>
            <a:ext cx="2194560" cy="347472"/>
          </a:xfrm>
          <a:prstGeom prst="rect">
            <a:avLst/>
          </a:prstGeom>
          <a:solidFill>
            <a:srgbClr val="0F3460">
              <a:alpha val="60000"/>
            </a:srgbClr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93192" y="4407408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2514600" y="4407408"/>
            <a:ext cx="5212080" cy="347472"/>
          </a:xfrm>
          <a:prstGeom prst="rect">
            <a:avLst/>
          </a:prstGeom>
          <a:solidFill>
            <a:srgbClr val="0F3460">
              <a:alpha val="60000"/>
            </a:srgbClr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587752" y="4407408"/>
            <a:ext cx="5065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HTTPS, JWT, bcrypt, field encryption — all implemented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7726680" y="4407408"/>
            <a:ext cx="1417320" cy="347472"/>
          </a:xfrm>
          <a:prstGeom prst="rect">
            <a:avLst/>
          </a:prstGeom>
          <a:solidFill>
            <a:srgbClr val="0F3460">
              <a:alpha val="60000"/>
            </a:srgbClr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799832" y="4407408"/>
            <a:ext cx="1271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F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Complete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Application UI – Screen Mockups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37760"/>
            <a:ext cx="6400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Safety Application  |  Parth Tyagi  |  2427030039  |  Sec-K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937760"/>
            <a:ext cx="457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804672"/>
            <a:ext cx="1965960" cy="3520440"/>
          </a:xfrm>
          <a:prstGeom prst="roundRect">
            <a:avLst>
              <a:gd name="adj" fmla="val 8372"/>
            </a:avLst>
          </a:prstGeom>
          <a:solidFill>
            <a:srgbClr val="111122"/>
          </a:solidFill>
          <a:ln w="19050">
            <a:solidFill>
              <a:srgbClr val="53348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9768" y="987552"/>
            <a:ext cx="1746504" cy="2926080"/>
          </a:xfrm>
          <a:prstGeom prst="rect">
            <a:avLst/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" y="987552"/>
            <a:ext cx="1746504" cy="329184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987552"/>
            <a:ext cx="174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Screen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84632" y="1389888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Large SOS button (red, centre)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84632" y="1920240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Greeting: 'Stay Safe, Priya'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84632" y="2450592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Quick: 112 helpline call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84632" y="2980944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Nav: Profile | Contacts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914400" y="877824"/>
            <a:ext cx="777240" cy="128016"/>
          </a:xfrm>
          <a:prstGeom prst="roundRect">
            <a:avLst>
              <a:gd name="adj" fmla="val 50000"/>
            </a:avLst>
          </a:prstGeom>
          <a:solidFill>
            <a:srgbClr val="222233"/>
          </a:solidFill>
          <a:ln w="12700">
            <a:solidFill>
              <a:srgbClr val="2222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96312" y="804672"/>
            <a:ext cx="1965960" cy="3520440"/>
          </a:xfrm>
          <a:prstGeom prst="roundRect">
            <a:avLst>
              <a:gd name="adj" fmla="val 8372"/>
            </a:avLst>
          </a:prstGeom>
          <a:solidFill>
            <a:srgbClr val="111122"/>
          </a:solidFill>
          <a:ln w="19050">
            <a:solidFill>
              <a:srgbClr val="53348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606040" y="987552"/>
            <a:ext cx="1746504" cy="2926080"/>
          </a:xfrm>
          <a:prstGeom prst="rect">
            <a:avLst/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06040" y="987552"/>
            <a:ext cx="1746504" cy="329184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06040" y="987552"/>
            <a:ext cx="174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Confirmation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660904" y="1389888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Countdown: 3...2...1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660904" y="1920240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Cancel option available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660904" y="2450592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Location fetching indicator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660904" y="2980944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Sending to 6 contacts...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090672" y="877824"/>
            <a:ext cx="777240" cy="128016"/>
          </a:xfrm>
          <a:prstGeom prst="roundRect">
            <a:avLst>
              <a:gd name="adj" fmla="val 50000"/>
            </a:avLst>
          </a:prstGeom>
          <a:solidFill>
            <a:srgbClr val="222233"/>
          </a:solidFill>
          <a:ln w="12700">
            <a:solidFill>
              <a:srgbClr val="2222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72584" y="804672"/>
            <a:ext cx="1965960" cy="3520440"/>
          </a:xfrm>
          <a:prstGeom prst="roundRect">
            <a:avLst>
              <a:gd name="adj" fmla="val 8372"/>
            </a:avLst>
          </a:prstGeom>
          <a:solidFill>
            <a:srgbClr val="111122"/>
          </a:solidFill>
          <a:ln w="19050">
            <a:solidFill>
              <a:srgbClr val="53348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82312" y="987552"/>
            <a:ext cx="1746504" cy="2926080"/>
          </a:xfrm>
          <a:prstGeom prst="rect">
            <a:avLst/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82312" y="987552"/>
            <a:ext cx="1746504" cy="329184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82312" y="987552"/>
            <a:ext cx="174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Screen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837176" y="1389888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Profile photo (circular)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837176" y="1920240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Name, Blood Type badge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837176" y="2450592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Medical info section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837176" y="2980944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Edit button with pencil icon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266944" y="877824"/>
            <a:ext cx="777240" cy="128016"/>
          </a:xfrm>
          <a:prstGeom prst="roundRect">
            <a:avLst>
              <a:gd name="adj" fmla="val 50000"/>
            </a:avLst>
          </a:prstGeom>
          <a:solidFill>
            <a:srgbClr val="222233"/>
          </a:solidFill>
          <a:ln w="12700">
            <a:solidFill>
              <a:srgbClr val="2222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48856" y="804672"/>
            <a:ext cx="1965960" cy="3520440"/>
          </a:xfrm>
          <a:prstGeom prst="roundRect">
            <a:avLst>
              <a:gd name="adj" fmla="val 8372"/>
            </a:avLst>
          </a:prstGeom>
          <a:solidFill>
            <a:srgbClr val="111122"/>
          </a:solidFill>
          <a:ln w="19050">
            <a:solidFill>
              <a:srgbClr val="53348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958584" y="987552"/>
            <a:ext cx="1746504" cy="2926080"/>
          </a:xfrm>
          <a:prstGeom prst="rect">
            <a:avLst/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958584" y="987552"/>
            <a:ext cx="1746504" cy="329184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58584" y="987552"/>
            <a:ext cx="174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 Setup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013448" y="1389888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Guardian phone number field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7013448" y="1920240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Link guardian button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7013448" y="2450592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Linked guardian name shown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7013448" y="2980944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Status: ✅ Verified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7443216" y="877824"/>
            <a:ext cx="777240" cy="128016"/>
          </a:xfrm>
          <a:prstGeom prst="roundRect">
            <a:avLst>
              <a:gd name="adj" fmla="val 50000"/>
            </a:avLst>
          </a:prstGeom>
          <a:solidFill>
            <a:srgbClr val="222233"/>
          </a:solidFill>
          <a:ln w="12700">
            <a:solidFill>
              <a:srgbClr val="2222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" y="461772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UI screens shown are design representations of the actual implemented application screens.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Performance Metrics &amp; Stats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37760"/>
            <a:ext cx="6400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Safety Application  |  Parth Tyagi  |  2427030039  |  Sec-K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937760"/>
            <a:ext cx="457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804672"/>
            <a:ext cx="1920240" cy="1417320"/>
          </a:xfrm>
          <a:prstGeom prst="rect">
            <a:avLst/>
          </a:prstGeom>
          <a:solidFill>
            <a:srgbClr val="0F3460"/>
          </a:solidFill>
          <a:ln w="2540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86868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 sec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0040" y="157276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WhatsApp Delivery Time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496312" y="804672"/>
            <a:ext cx="1920240" cy="1417320"/>
          </a:xfrm>
          <a:prstGeom prst="rect">
            <a:avLst/>
          </a:prstGeom>
          <a:solidFill>
            <a:srgbClr val="0F3460"/>
          </a:solidFill>
          <a:ln w="2540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96312" y="86868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99.2%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496312" y="157276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Location Accuracy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72584" y="804672"/>
            <a:ext cx="1920240" cy="1417320"/>
          </a:xfrm>
          <a:prstGeom prst="rect">
            <a:avLst/>
          </a:prstGeom>
          <a:solidFill>
            <a:srgbClr val="0F3460"/>
          </a:solidFill>
          <a:ln w="2540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72584" y="86868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sec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72584" y="157276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Response Time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848856" y="804672"/>
            <a:ext cx="1920240" cy="1417320"/>
          </a:xfrm>
          <a:prstGeom prst="rect">
            <a:avLst/>
          </a:prstGeom>
          <a:solidFill>
            <a:srgbClr val="0F3460"/>
          </a:solidFill>
          <a:ln w="2540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48856" y="86868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848856" y="157276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Successfully Built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20040" y="23774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Implementation Coverage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0040" y="27432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560320" y="2779776"/>
            <a:ext cx="4828032" cy="182880"/>
          </a:xfrm>
          <a:prstGeom prst="rect">
            <a:avLst/>
          </a:prstGeom>
          <a:solidFill>
            <a:srgbClr val="533483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0" y="2779776"/>
            <a:ext cx="4828032" cy="182880"/>
          </a:xfrm>
          <a:prstGeom prst="rect">
            <a:avLst/>
          </a:prstGeom>
          <a:solidFill>
            <a:srgbClr val="00C9B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80960" y="27432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F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20040" y="30175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Auth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560320" y="3054096"/>
            <a:ext cx="4828032" cy="182880"/>
          </a:xfrm>
          <a:prstGeom prst="rect">
            <a:avLst/>
          </a:prstGeom>
          <a:solidFill>
            <a:srgbClr val="533483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0" y="3054096"/>
            <a:ext cx="4828032" cy="182880"/>
          </a:xfrm>
          <a:prstGeom prst="rect">
            <a:avLst/>
          </a:prstGeom>
          <a:solidFill>
            <a:srgbClr val="00C9B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0960" y="3017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F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20040" y="32918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WhatsApp Alert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560320" y="3328416"/>
            <a:ext cx="4828032" cy="182880"/>
          </a:xfrm>
          <a:prstGeom prst="rect">
            <a:avLst/>
          </a:prstGeom>
          <a:solidFill>
            <a:srgbClr val="533483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0" y="3328416"/>
            <a:ext cx="4828032" cy="182880"/>
          </a:xfrm>
          <a:prstGeom prst="rect">
            <a:avLst/>
          </a:prstGeom>
          <a:solidFill>
            <a:srgbClr val="00C9B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80960" y="32918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F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20040" y="35661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 System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560320" y="3602736"/>
            <a:ext cx="4828032" cy="182880"/>
          </a:xfrm>
          <a:prstGeom prst="rect">
            <a:avLst/>
          </a:prstGeom>
          <a:solidFill>
            <a:srgbClr val="533483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560320" y="3602736"/>
            <a:ext cx="4828032" cy="182880"/>
          </a:xfrm>
          <a:prstGeom prst="rect">
            <a:avLst/>
          </a:prstGeom>
          <a:solidFill>
            <a:srgbClr val="00C9B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0" y="35661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F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20040" y="38404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Tracking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560320" y="3877056"/>
            <a:ext cx="4828032" cy="182880"/>
          </a:xfrm>
          <a:prstGeom prst="rect">
            <a:avLst/>
          </a:prstGeom>
          <a:solidFill>
            <a:srgbClr val="533483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60320" y="3877056"/>
            <a:ext cx="4828032" cy="182880"/>
          </a:xfrm>
          <a:prstGeom prst="rect">
            <a:avLst/>
          </a:prstGeom>
          <a:solidFill>
            <a:srgbClr val="00C9B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80960" y="38404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F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20040" y="41148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in SOS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560320" y="4151376"/>
            <a:ext cx="4828032" cy="182880"/>
          </a:xfrm>
          <a:prstGeom prst="rect">
            <a:avLst/>
          </a:prstGeom>
          <a:solidFill>
            <a:srgbClr val="533483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560320" y="4151376"/>
            <a:ext cx="4828032" cy="182880"/>
          </a:xfrm>
          <a:prstGeom prst="rect">
            <a:avLst/>
          </a:prstGeom>
          <a:solidFill>
            <a:srgbClr val="00C9B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80960" y="4114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F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20040" y="43891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Contacts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560320" y="4425696"/>
            <a:ext cx="4828032" cy="182880"/>
          </a:xfrm>
          <a:prstGeom prst="rect">
            <a:avLst/>
          </a:prstGeom>
          <a:solidFill>
            <a:srgbClr val="533483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560320" y="4425696"/>
            <a:ext cx="4828032" cy="182880"/>
          </a:xfrm>
          <a:prstGeom prst="rect">
            <a:avLst/>
          </a:prstGeom>
          <a:solidFill>
            <a:srgbClr val="00C9B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80960" y="43891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F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20040" y="46634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&amp; Photo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560320" y="4700016"/>
            <a:ext cx="4828032" cy="182880"/>
          </a:xfrm>
          <a:prstGeom prst="rect">
            <a:avLst/>
          </a:prstGeom>
          <a:solidFill>
            <a:srgbClr val="533483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560320" y="4700016"/>
            <a:ext cx="4828032" cy="182880"/>
          </a:xfrm>
          <a:prstGeom prst="rect">
            <a:avLst/>
          </a:prstGeom>
          <a:solidFill>
            <a:srgbClr val="00C9B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680960" y="46634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F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Enhancements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37760"/>
            <a:ext cx="6400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Safety Application  |  Parth Tyagi  |  2427030039  |  Sec-K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937760"/>
            <a:ext cx="457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804672"/>
            <a:ext cx="2697480" cy="1920240"/>
          </a:xfrm>
          <a:prstGeom prst="rect">
            <a:avLst/>
          </a:prstGeom>
          <a:solidFill>
            <a:srgbClr val="16213E"/>
          </a:solidFill>
          <a:ln w="1270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804672"/>
            <a:ext cx="64008" cy="19202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4168" y="969264"/>
            <a:ext cx="585216" cy="58521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984248" y="914400"/>
            <a:ext cx="914400" cy="201168"/>
          </a:xfrm>
          <a:prstGeom prst="rect">
            <a:avLst/>
          </a:prstGeom>
          <a:solidFill>
            <a:srgbClr val="E94560">
              <a:alpha val="60000"/>
            </a:srgbClr>
          </a:solidFill>
          <a:ln w="6350">
            <a:solidFill>
              <a:srgbClr val="E9456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984248" y="914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429768" y="16824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Shake-to-SOS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29768" y="1956816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 distress via phone shake gesture. No screen interaction required — even if phone is in pocket.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3200400" y="804672"/>
            <a:ext cx="2697480" cy="1920240"/>
          </a:xfrm>
          <a:prstGeom prst="rect">
            <a:avLst/>
          </a:prstGeom>
          <a:solidFill>
            <a:srgbClr val="16213E"/>
          </a:solidFill>
          <a:ln w="12700">
            <a:solidFill>
              <a:srgbClr val="00C9B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00400" y="804672"/>
            <a:ext cx="64008" cy="192024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28" y="969264"/>
            <a:ext cx="585216" cy="585216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864608" y="914400"/>
            <a:ext cx="914400" cy="201168"/>
          </a:xfrm>
          <a:prstGeom prst="rect">
            <a:avLst/>
          </a:prstGeom>
          <a:solidFill>
            <a:srgbClr val="00C9B1">
              <a:alpha val="60000"/>
            </a:srgbClr>
          </a:solidFill>
          <a:ln w="6350">
            <a:solidFill>
              <a:srgbClr val="00C9B1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864608" y="914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700" dirty="0"/>
          </a:p>
        </p:txBody>
      </p:sp>
      <p:sp>
        <p:nvSpPr>
          <p:cNvPr id="20" name="Text 16"/>
          <p:cNvSpPr/>
          <p:nvPr/>
        </p:nvSpPr>
        <p:spPr>
          <a:xfrm>
            <a:off x="3310128" y="16824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Fallback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3310128" y="1956816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SOS via SMS when internet is unavailable, ensuring reliability in low-connectivity rural areas.</a:t>
            </a:r>
            <a:endParaRPr lang="en-US" sz="750" dirty="0"/>
          </a:p>
        </p:txBody>
      </p:sp>
      <p:sp>
        <p:nvSpPr>
          <p:cNvPr id="22" name="Shape 18"/>
          <p:cNvSpPr/>
          <p:nvPr/>
        </p:nvSpPr>
        <p:spPr>
          <a:xfrm>
            <a:off x="6080760" y="804672"/>
            <a:ext cx="2697480" cy="1920240"/>
          </a:xfrm>
          <a:prstGeom prst="rect">
            <a:avLst/>
          </a:prstGeom>
          <a:solidFill>
            <a:srgbClr val="16213E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080760" y="804672"/>
            <a:ext cx="64008" cy="19202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88" y="969264"/>
            <a:ext cx="585216" cy="585216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7744968" y="914400"/>
            <a:ext cx="914400" cy="201168"/>
          </a:xfrm>
          <a:prstGeom prst="rect">
            <a:avLst/>
          </a:prstGeom>
          <a:solidFill>
            <a:srgbClr val="FFD166">
              <a:alpha val="60000"/>
            </a:srgbClr>
          </a:solidFill>
          <a:ln w="6350">
            <a:solidFill>
              <a:srgbClr val="FFD166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7744968" y="914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700" dirty="0"/>
          </a:p>
        </p:txBody>
      </p:sp>
      <p:sp>
        <p:nvSpPr>
          <p:cNvPr id="27" name="Text 22"/>
          <p:cNvSpPr/>
          <p:nvPr/>
        </p:nvSpPr>
        <p:spPr>
          <a:xfrm>
            <a:off x="6190488" y="16824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Live Tracking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6190488" y="1956816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location stream to guardian during active emergency, not just a one-time coordinate.</a:t>
            </a:r>
            <a:endParaRPr lang="en-US" sz="750" dirty="0"/>
          </a:p>
        </p:txBody>
      </p:sp>
      <p:sp>
        <p:nvSpPr>
          <p:cNvPr id="29" name="Shape 24"/>
          <p:cNvSpPr/>
          <p:nvPr/>
        </p:nvSpPr>
        <p:spPr>
          <a:xfrm>
            <a:off x="320040" y="2889504"/>
            <a:ext cx="2697480" cy="192024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320040" y="2889504"/>
            <a:ext cx="64008" cy="19202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4168" y="3054096"/>
            <a:ext cx="585216" cy="585216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1984248" y="2999232"/>
            <a:ext cx="914400" cy="201168"/>
          </a:xfrm>
          <a:prstGeom prst="rect">
            <a:avLst/>
          </a:prstGeom>
          <a:solidFill>
            <a:srgbClr val="FF6B6B">
              <a:alpha val="60000"/>
            </a:srgbClr>
          </a:solidFill>
          <a:ln w="6350">
            <a:solidFill>
              <a:srgbClr val="FF6B6B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1984248" y="29992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700" dirty="0"/>
          </a:p>
        </p:txBody>
      </p:sp>
      <p:sp>
        <p:nvSpPr>
          <p:cNvPr id="34" name="Text 28"/>
          <p:cNvSpPr/>
          <p:nvPr/>
        </p:nvSpPr>
        <p:spPr>
          <a:xfrm>
            <a:off x="429768" y="37673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112 Integration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429768" y="4041648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call to national police helpline with automatic location dispatch to police control room.</a:t>
            </a:r>
            <a:endParaRPr lang="en-US" sz="750" dirty="0"/>
          </a:p>
        </p:txBody>
      </p:sp>
      <p:sp>
        <p:nvSpPr>
          <p:cNvPr id="36" name="Shape 30"/>
          <p:cNvSpPr/>
          <p:nvPr/>
        </p:nvSpPr>
        <p:spPr>
          <a:xfrm>
            <a:off x="3200400" y="2889504"/>
            <a:ext cx="2697480" cy="1920240"/>
          </a:xfrm>
          <a:prstGeom prst="rect">
            <a:avLst/>
          </a:prstGeom>
          <a:solidFill>
            <a:srgbClr val="16213E"/>
          </a:solidFill>
          <a:ln w="12700">
            <a:solidFill>
              <a:srgbClr val="53348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3200400" y="2889504"/>
            <a:ext cx="64008" cy="1920240"/>
          </a:xfrm>
          <a:prstGeom prst="rect">
            <a:avLst/>
          </a:prstGeom>
          <a:solidFill>
            <a:srgbClr val="533483"/>
          </a:solidFill>
          <a:ln w="12700">
            <a:solidFill>
              <a:srgbClr val="533483"/>
            </a:solidFill>
            <a:prstDash val="solid"/>
          </a:ln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4528" y="3054096"/>
            <a:ext cx="585216" cy="585216"/>
          </a:xfrm>
          <a:prstGeom prst="rect">
            <a:avLst/>
          </a:prstGeom>
        </p:spPr>
      </p:pic>
      <p:sp>
        <p:nvSpPr>
          <p:cNvPr id="39" name="Shape 32"/>
          <p:cNvSpPr/>
          <p:nvPr/>
        </p:nvSpPr>
        <p:spPr>
          <a:xfrm>
            <a:off x="4864608" y="2999232"/>
            <a:ext cx="914400" cy="201168"/>
          </a:xfrm>
          <a:prstGeom prst="rect">
            <a:avLst/>
          </a:prstGeom>
          <a:solidFill>
            <a:srgbClr val="533483">
              <a:alpha val="60000"/>
            </a:srgbClr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4864608" y="29992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700" dirty="0"/>
          </a:p>
        </p:txBody>
      </p:sp>
      <p:sp>
        <p:nvSpPr>
          <p:cNvPr id="41" name="Text 34"/>
          <p:cNvSpPr/>
          <p:nvPr/>
        </p:nvSpPr>
        <p:spPr>
          <a:xfrm>
            <a:off x="3310128" y="37673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Threat Detection</a:t>
            </a:r>
            <a:endParaRPr lang="en-US" sz="1000" dirty="0"/>
          </a:p>
        </p:txBody>
      </p:sp>
      <p:sp>
        <p:nvSpPr>
          <p:cNvPr id="42" name="Text 35"/>
          <p:cNvSpPr/>
          <p:nvPr/>
        </p:nvSpPr>
        <p:spPr>
          <a:xfrm>
            <a:off x="3310128" y="4041648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analyses route deviation, speed, and time-of-day to auto-trigger SOS in suspicious scenarios.</a:t>
            </a:r>
            <a:endParaRPr lang="en-US" sz="750" dirty="0"/>
          </a:p>
        </p:txBody>
      </p:sp>
      <p:sp>
        <p:nvSpPr>
          <p:cNvPr id="43" name="Shape 36"/>
          <p:cNvSpPr/>
          <p:nvPr/>
        </p:nvSpPr>
        <p:spPr>
          <a:xfrm>
            <a:off x="6080760" y="2889504"/>
            <a:ext cx="2697480" cy="1920240"/>
          </a:xfrm>
          <a:prstGeom prst="rect">
            <a:avLst/>
          </a:prstGeom>
          <a:solidFill>
            <a:srgbClr val="16213E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4" name="Shape 37"/>
          <p:cNvSpPr/>
          <p:nvPr/>
        </p:nvSpPr>
        <p:spPr>
          <a:xfrm>
            <a:off x="6080760" y="2889504"/>
            <a:ext cx="64008" cy="19202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4888" y="3054096"/>
            <a:ext cx="585216" cy="585216"/>
          </a:xfrm>
          <a:prstGeom prst="rect">
            <a:avLst/>
          </a:prstGeom>
        </p:spPr>
      </p:pic>
      <p:sp>
        <p:nvSpPr>
          <p:cNvPr id="46" name="Shape 38"/>
          <p:cNvSpPr/>
          <p:nvPr/>
        </p:nvSpPr>
        <p:spPr>
          <a:xfrm>
            <a:off x="7744968" y="2999232"/>
            <a:ext cx="914400" cy="201168"/>
          </a:xfrm>
          <a:prstGeom prst="rect">
            <a:avLst/>
          </a:prstGeom>
          <a:solidFill>
            <a:srgbClr val="4FC3F7">
              <a:alpha val="60000"/>
            </a:srgbClr>
          </a:solidFill>
          <a:ln w="6350">
            <a:solidFill>
              <a:srgbClr val="4FC3F7"/>
            </a:solidFill>
            <a:prstDash val="solid"/>
          </a:ln>
        </p:spPr>
      </p:sp>
      <p:sp>
        <p:nvSpPr>
          <p:cNvPr id="47" name="Text 39"/>
          <p:cNvSpPr/>
          <p:nvPr/>
        </p:nvSpPr>
        <p:spPr>
          <a:xfrm>
            <a:off x="7744968" y="29992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700" dirty="0"/>
          </a:p>
        </p:txBody>
      </p:sp>
      <p:sp>
        <p:nvSpPr>
          <p:cNvPr id="48" name="Text 40"/>
          <p:cNvSpPr/>
          <p:nvPr/>
        </p:nvSpPr>
        <p:spPr>
          <a:xfrm>
            <a:off x="6190488" y="37673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Safety Map</a:t>
            </a:r>
            <a:endParaRPr lang="en-US" sz="1000" dirty="0"/>
          </a:p>
        </p:txBody>
      </p:sp>
      <p:sp>
        <p:nvSpPr>
          <p:cNvPr id="49" name="Text 41"/>
          <p:cNvSpPr/>
          <p:nvPr/>
        </p:nvSpPr>
        <p:spPr>
          <a:xfrm>
            <a:off x="6190488" y="4041648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Crowdsourced safety ratings for locations, helping women identify and avoid high-risk areas.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Social Impact &amp; Relevance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37760"/>
            <a:ext cx="6400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Safety Application  |  Parth Tyagi  |  2427030039  |  Sec-K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937760"/>
            <a:ext cx="457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804672"/>
            <a:ext cx="8503920" cy="731520"/>
          </a:xfrm>
          <a:prstGeom prst="rect">
            <a:avLst/>
          </a:prstGeom>
          <a:solidFill>
            <a:srgbClr val="0F3460"/>
          </a:solidFill>
          <a:ln w="1270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804672"/>
            <a:ext cx="64008" cy="7315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80467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application directly addresses SDG Goal 5 (Gender Equality) and SDG Goal 16 (Peace, Justice &amp; Strong Institutions) by empowering women with technology for personal safety.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1691640"/>
            <a:ext cx="4160520" cy="1417320"/>
          </a:xfrm>
          <a:prstGeom prst="rect">
            <a:avLst/>
          </a:prstGeom>
          <a:solidFill>
            <a:srgbClr val="16213E"/>
          </a:solidFill>
          <a:ln w="12700">
            <a:solidFill>
              <a:srgbClr val="00C9B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691640"/>
            <a:ext cx="64008" cy="14173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74650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~40% faster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211226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Emergency Response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386584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+ WhatsApp delivers location to known contacts within 3 seconds vs average 10+ minute police response.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54880" y="1691640"/>
            <a:ext cx="4160520" cy="1417320"/>
          </a:xfrm>
          <a:prstGeom prst="rect">
            <a:avLst/>
          </a:prstGeom>
          <a:solidFill>
            <a:srgbClr val="16213E"/>
          </a:solidFill>
          <a:ln w="12700">
            <a:solidFill>
              <a:srgbClr val="00C9B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691640"/>
            <a:ext cx="64008" cy="14173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74650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safety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11226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Psychological Confidence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2386584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 show women with safety apps report higher confidence levels in public spaces and while commuting alone.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3264408"/>
            <a:ext cx="4160520" cy="1417320"/>
          </a:xfrm>
          <a:prstGeom prst="rect">
            <a:avLst/>
          </a:prstGeom>
          <a:solidFill>
            <a:srgbClr val="16213E"/>
          </a:solidFill>
          <a:ln w="12700">
            <a:solidFill>
              <a:srgbClr val="00C9B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264408"/>
            <a:ext cx="64008" cy="14173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31927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info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36850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Emergency Prep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3959352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type and medical data in SOS empowers first responders to arrive with correct supplies and knowledge.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54880" y="3264408"/>
            <a:ext cx="4160520" cy="1417320"/>
          </a:xfrm>
          <a:prstGeom prst="rect">
            <a:avLst/>
          </a:prstGeom>
          <a:solidFill>
            <a:srgbClr val="16213E"/>
          </a:solidFill>
          <a:ln w="12700">
            <a:solidFill>
              <a:srgbClr val="00C9B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264408"/>
            <a:ext cx="64008" cy="14173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31927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alert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92040" y="36850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 Awareness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3959352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notification ensures family members are immediately aware and can coordinate response and rescue.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MTE vs ETE – What's New?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37760"/>
            <a:ext cx="6400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Safety Application  |  Parth Tyagi  |  2427030039  |  Sec-K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937760"/>
            <a:ext cx="457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804672"/>
            <a:ext cx="2468880" cy="384048"/>
          </a:xfrm>
          <a:prstGeom prst="rect">
            <a:avLst/>
          </a:prstGeom>
          <a:solidFill>
            <a:srgbClr val="E94560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804672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88920" y="804672"/>
            <a:ext cx="2194560" cy="384048"/>
          </a:xfrm>
          <a:prstGeom prst="rect">
            <a:avLst/>
          </a:prstGeom>
          <a:solidFill>
            <a:srgbClr val="E94560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62072" y="804672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MTE (Mid-Term)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983480" y="804672"/>
            <a:ext cx="3200400" cy="384048"/>
          </a:xfrm>
          <a:prstGeom prst="rect">
            <a:avLst/>
          </a:prstGeom>
          <a:solidFill>
            <a:srgbClr val="E94560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56632" y="804672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ETE (End-Term)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83880" y="804672"/>
            <a:ext cx="1051560" cy="384048"/>
          </a:xfrm>
          <a:prstGeom prst="rect">
            <a:avLst/>
          </a:prstGeom>
          <a:solidFill>
            <a:srgbClr val="E94560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57032" y="804672"/>
            <a:ext cx="905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1307592"/>
            <a:ext cx="2468880" cy="457200"/>
          </a:xfrm>
          <a:prstGeom prst="rect">
            <a:avLst/>
          </a:prstGeom>
          <a:solidFill>
            <a:srgbClr val="0F3460">
              <a:alpha val="50000"/>
            </a:srgbClr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" y="1307592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88920" y="1307592"/>
            <a:ext cx="2194560" cy="457200"/>
          </a:xfrm>
          <a:prstGeom prst="rect">
            <a:avLst/>
          </a:prstGeom>
          <a:solidFill>
            <a:srgbClr val="0F3460">
              <a:alpha val="50000"/>
            </a:srgbClr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62072" y="1307592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Basic form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983480" y="1307592"/>
            <a:ext cx="3200400" cy="457200"/>
          </a:xfrm>
          <a:prstGeom prst="rect">
            <a:avLst/>
          </a:prstGeom>
          <a:solidFill>
            <a:srgbClr val="0F3460">
              <a:alpha val="50000"/>
            </a:srgbClr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56632" y="1307592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+ Blood type, Medical data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183880" y="1307592"/>
            <a:ext cx="1051560" cy="457200"/>
          </a:xfrm>
          <a:prstGeom prst="rect">
            <a:avLst/>
          </a:prstGeom>
          <a:solidFill>
            <a:srgbClr val="0F3460">
              <a:alpha val="50000"/>
            </a:srgbClr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57032" y="1307592"/>
            <a:ext cx="905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" y="1810512"/>
            <a:ext cx="2468880" cy="457200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" y="1810512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Button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88920" y="1810512"/>
            <a:ext cx="2194560" cy="457200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62072" y="1810512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Basic SOS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983480" y="1810512"/>
            <a:ext cx="3200400" cy="457200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56632" y="1810512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+ Sends to guardian with full details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183880" y="1810512"/>
            <a:ext cx="1051560" cy="457200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57032" y="1810512"/>
            <a:ext cx="905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0040" y="2313432"/>
            <a:ext cx="2468880" cy="457200"/>
          </a:xfrm>
          <a:prstGeom prst="rect">
            <a:avLst/>
          </a:prstGeom>
          <a:solidFill>
            <a:srgbClr val="0F3460">
              <a:alpha val="50000"/>
            </a:srgbClr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3192" y="2313432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Alert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788920" y="2313432"/>
            <a:ext cx="2194560" cy="457200"/>
          </a:xfrm>
          <a:prstGeom prst="rect">
            <a:avLst/>
          </a:prstGeom>
          <a:solidFill>
            <a:srgbClr val="0F3460">
              <a:alpha val="50000"/>
            </a:srgbClr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862072" y="2313432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Location only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983480" y="2313432"/>
            <a:ext cx="3200400" cy="457200"/>
          </a:xfrm>
          <a:prstGeom prst="rect">
            <a:avLst/>
          </a:prstGeom>
          <a:solidFill>
            <a:srgbClr val="0F3460">
              <a:alpha val="50000"/>
            </a:srgbClr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56632" y="2313432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+ Name, Phone, Blood Type, Medical info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183880" y="2313432"/>
            <a:ext cx="1051560" cy="457200"/>
          </a:xfrm>
          <a:prstGeom prst="rect">
            <a:avLst/>
          </a:prstGeom>
          <a:solidFill>
            <a:srgbClr val="0F3460">
              <a:alpha val="50000"/>
            </a:srgbClr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57032" y="2313432"/>
            <a:ext cx="905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20040" y="2816352"/>
            <a:ext cx="2468880" cy="457200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3192" y="2816352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 System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788920" y="2816352"/>
            <a:ext cx="2194560" cy="457200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862072" y="2816352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Not present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983480" y="2816352"/>
            <a:ext cx="3200400" cy="457200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56632" y="2816352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 guardian account registration &amp; linking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8183880" y="2816352"/>
            <a:ext cx="1051560" cy="457200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57032" y="2816352"/>
            <a:ext cx="905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F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20040" y="3319272"/>
            <a:ext cx="2468880" cy="457200"/>
          </a:xfrm>
          <a:prstGeom prst="rect">
            <a:avLst/>
          </a:prstGeom>
          <a:solidFill>
            <a:srgbClr val="0F3460">
              <a:alpha val="50000"/>
            </a:srgbClr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3192" y="3319272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Profile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788920" y="3319272"/>
            <a:ext cx="2194560" cy="457200"/>
          </a:xfrm>
          <a:prstGeom prst="rect">
            <a:avLst/>
          </a:prstGeom>
          <a:solidFill>
            <a:srgbClr val="0F3460">
              <a:alpha val="50000"/>
            </a:srgbClr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862072" y="3319272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Not present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983480" y="3319272"/>
            <a:ext cx="3200400" cy="457200"/>
          </a:xfrm>
          <a:prstGeom prst="rect">
            <a:avLst/>
          </a:prstGeom>
          <a:solidFill>
            <a:srgbClr val="0F3460">
              <a:alpha val="50000"/>
            </a:srgbClr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56632" y="3319272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Blood type, conditions in SOS message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8183880" y="3319272"/>
            <a:ext cx="1051560" cy="457200"/>
          </a:xfrm>
          <a:prstGeom prst="rect">
            <a:avLst/>
          </a:prstGeom>
          <a:solidFill>
            <a:srgbClr val="0F3460">
              <a:alpha val="50000"/>
            </a:srgbClr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257032" y="3319272"/>
            <a:ext cx="905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F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20040" y="3822192"/>
            <a:ext cx="2468880" cy="457200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93192" y="3822192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Message Format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2788920" y="3822192"/>
            <a:ext cx="2194560" cy="457200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862072" y="3822192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text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983480" y="3822192"/>
            <a:ext cx="3200400" cy="457200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56632" y="3822192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Structured: identity + medical + location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8183880" y="3822192"/>
            <a:ext cx="1051560" cy="457200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257032" y="3822192"/>
            <a:ext cx="905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320040" y="4325112"/>
            <a:ext cx="2468880" cy="457200"/>
          </a:xfrm>
          <a:prstGeom prst="rect">
            <a:avLst/>
          </a:prstGeom>
          <a:solidFill>
            <a:srgbClr val="0F3460">
              <a:alpha val="50000"/>
            </a:srgbClr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93192" y="4325112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2788920" y="4325112"/>
            <a:ext cx="2194560" cy="457200"/>
          </a:xfrm>
          <a:prstGeom prst="rect">
            <a:avLst/>
          </a:prstGeom>
          <a:solidFill>
            <a:srgbClr val="0F3460">
              <a:alpha val="50000"/>
            </a:srgbClr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862072" y="4325112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users table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4983480" y="4325112"/>
            <a:ext cx="3200400" cy="457200"/>
          </a:xfrm>
          <a:prstGeom prst="rect">
            <a:avLst/>
          </a:prstGeom>
          <a:solidFill>
            <a:srgbClr val="0F3460">
              <a:alpha val="50000"/>
            </a:srgbClr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056632" y="4325112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+ Guardians + Contacts + SOSLogs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8183880" y="4325112"/>
            <a:ext cx="1051560" cy="457200"/>
          </a:xfrm>
          <a:prstGeom prst="rect">
            <a:avLst/>
          </a:prstGeom>
          <a:solidFill>
            <a:srgbClr val="0F3460">
              <a:alpha val="50000"/>
            </a:srgbClr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257032" y="4325112"/>
            <a:ext cx="905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320040" y="4828032"/>
            <a:ext cx="2468880" cy="457200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93192" y="4828032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2788920" y="4828032"/>
            <a:ext cx="2194560" cy="457200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862072" y="4828032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auth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4983480" y="4828032"/>
            <a:ext cx="3200400" cy="457200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056632" y="4828032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 + encrypted fields + rate limiting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8183880" y="4828032"/>
            <a:ext cx="1051560" cy="457200"/>
          </a:xfrm>
          <a:prstGeom prst="rect">
            <a:avLst/>
          </a:prstGeom>
          <a:solidFill>
            <a:srgbClr val="16213E"/>
          </a:solidFill>
          <a:ln w="6350">
            <a:solidFill>
              <a:srgbClr val="533483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257032" y="4828032"/>
            <a:ext cx="905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References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37760"/>
            <a:ext cx="6400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Safety Application  |  Parth Tyagi  |  2427030039  |  Sec-K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937760"/>
            <a:ext cx="457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804672"/>
            <a:ext cx="8503920" cy="530352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804672"/>
            <a:ext cx="64008" cy="5303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804672"/>
            <a:ext cx="347472" cy="5303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804672"/>
            <a:ext cx="347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49808" y="841248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Android-Based Women Safety Application with Real-Time Alerts and Location Tracking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49808" y="1078992"/>
            <a:ext cx="7909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Int. J. Sci. Inno. Eng., 2025  |  https://doi.org/10.70849/IJSCI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20040" y="1408176"/>
            <a:ext cx="8503920" cy="530352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1408176"/>
            <a:ext cx="64008" cy="5303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1408176"/>
            <a:ext cx="347472" cy="5303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1408176"/>
            <a:ext cx="347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49808" y="1444752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Research Paper on Android App for Women Safety (GPS + Emergency Messaging)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49808" y="1682496"/>
            <a:ext cx="7909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IJRASET, 2023  |  https://doi.org/10.22214/ijraset.2023.50663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20040" y="2011680"/>
            <a:ext cx="8503920" cy="530352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011680"/>
            <a:ext cx="64008" cy="5303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2011680"/>
            <a:ext cx="347472" cy="5303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011680"/>
            <a:ext cx="347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49808" y="2048256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for Women Safety: Spark Women (Mobile Panic Button + Location Sharing)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49808" y="2286000"/>
            <a:ext cx="7909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IJRASET, 2022  |  https://doi.org/10.22214/ijraset.2022.41479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20040" y="2615184"/>
            <a:ext cx="8503920" cy="530352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2615184"/>
            <a:ext cx="64008" cy="5303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2615184"/>
            <a:ext cx="347472" cy="5303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2615184"/>
            <a:ext cx="347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49808" y="2651760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Safety System Using GPS and GSM Tracking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49808" y="2889504"/>
            <a:ext cx="7909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IJESR  |  https://ijesr.org/index.php/ijesr/article/view/85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20040" y="3218688"/>
            <a:ext cx="8503920" cy="530352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" y="3218688"/>
            <a:ext cx="64008" cy="5303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3218688"/>
            <a:ext cx="347472" cy="5303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3218688"/>
            <a:ext cx="347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49808" y="3255264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API Documentation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49808" y="3493008"/>
            <a:ext cx="7909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Developers  |  https://developers.facebook.com/docs/whatsapp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20040" y="3822192"/>
            <a:ext cx="8503920" cy="530352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20040" y="3822192"/>
            <a:ext cx="64008" cy="5303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" y="3822192"/>
            <a:ext cx="347472" cy="5303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3822192"/>
            <a:ext cx="347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49808" y="3858768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Documentation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49808" y="4096512"/>
            <a:ext cx="7909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Open Source  |  https://reactnative.dev/docs/getting-started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320040" y="4425696"/>
            <a:ext cx="8503920" cy="530352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20040" y="4425696"/>
            <a:ext cx="64008" cy="5303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0040" y="4425696"/>
            <a:ext cx="347472" cy="5303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4425696"/>
            <a:ext cx="347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49808" y="4462272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Platform – Geocoding API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49808" y="4700016"/>
            <a:ext cx="7909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Developers  |  https://developers.google.com/maps/documentation/geocoding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0"/>
            <a:ext cx="9144000" cy="54864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457200"/>
            <a:ext cx="1554480" cy="1554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05740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278892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Safety Application — End Term Examination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3154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Women Through Technology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39319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Parth Tyagi  |  2427030039  |  Sec-K
</a:t>
            </a:r>
            <a:pPr algn="ctr" indent="0" marL="0">
              <a:buNone/>
            </a:pPr>
            <a:r>
              <a:rPr lang="en-US" sz="9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by: Ms. Tripti Kulshrestha  |  School of CSE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00400" y="3520440"/>
            <a:ext cx="2743200" cy="34747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200400" y="35204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for Questions &amp; Discussion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Women Safety Application – ETE Presentation</dc:title>
  <dc:subject>PptxGenJS Presentation</dc:subject>
  <dc:creator>Parth Tyagi</dc:creator>
  <cp:lastModifiedBy>Parth Tyagi</cp:lastModifiedBy>
  <cp:revision>1</cp:revision>
  <dcterms:created xsi:type="dcterms:W3CDTF">2026-04-09T15:28:04Z</dcterms:created>
  <dcterms:modified xsi:type="dcterms:W3CDTF">2026-04-09T15:28:04Z</dcterms:modified>
</cp:coreProperties>
</file>